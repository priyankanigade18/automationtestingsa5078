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0" r:id="rId5"/>
    <p:sldId id="263" r:id="rId6"/>
    <p:sldId id="266" r:id="rId7"/>
    <p:sldId id="267" r:id="rId8"/>
    <p:sldId id="259" r:id="rId9"/>
    <p:sldId id="258" r:id="rId10"/>
    <p:sldId id="268" r:id="rId11"/>
    <p:sldId id="269" r:id="rId12"/>
    <p:sldId id="272" r:id="rId13"/>
    <p:sldId id="270" r:id="rId14"/>
    <p:sldId id="271" r:id="rId15"/>
    <p:sldId id="273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Framework Design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What is Framework</a:t>
            </a:r>
          </a:p>
          <a:p>
            <a:r>
              <a:rPr lang="en-IN" dirty="0"/>
              <a:t>Need of Framework</a:t>
            </a:r>
          </a:p>
          <a:p>
            <a:r>
              <a:rPr lang="en-IN" dirty="0"/>
              <a:t>Types Of Framework</a:t>
            </a:r>
          </a:p>
          <a:p>
            <a:r>
              <a:rPr lang="en-IN" dirty="0"/>
              <a:t>Page Objet Model</a:t>
            </a:r>
          </a:p>
          <a:p>
            <a:r>
              <a:rPr lang="en-IN" dirty="0"/>
              <a:t>Hybrid Framework development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Framework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382000" cy="5181600"/>
          </a:xfrm>
        </p:spPr>
        <p:txBody>
          <a:bodyPr>
            <a:normAutofit fontScale="92500" lnSpcReduction="10000"/>
          </a:bodyPr>
          <a:lstStyle/>
          <a:p>
            <a:pPr algn="just">
              <a:buFont typeface="Wingdings" pitchFamily="2" charset="2"/>
              <a:buChar char="ü"/>
            </a:pPr>
            <a:r>
              <a:rPr lang="en-US" dirty="0"/>
              <a:t>A framework is a set of assumptions, concepts and practices that needs to be followed.</a:t>
            </a:r>
          </a:p>
          <a:p>
            <a:pPr algn="just">
              <a:buFont typeface="Wingdings" pitchFamily="2" charset="2"/>
              <a:buChar char="ü"/>
            </a:pPr>
            <a:r>
              <a:rPr lang="en-US" dirty="0"/>
              <a:t>It is nothing but a set of guidelines</a:t>
            </a:r>
          </a:p>
          <a:p>
            <a:pPr algn="just">
              <a:buFont typeface="Wingdings" pitchFamily="2" charset="2"/>
              <a:buChar char="ü"/>
            </a:pPr>
            <a:r>
              <a:rPr lang="en-US" dirty="0"/>
              <a:t>These guidelines consist of coding standards, test-data handling, object repository treatment etc. </a:t>
            </a:r>
          </a:p>
          <a:p>
            <a:pPr algn="just">
              <a:buFont typeface="Wingdings" pitchFamily="2" charset="2"/>
              <a:buChar char="ü"/>
            </a:pPr>
            <a:r>
              <a:rPr lang="en-US" dirty="0"/>
              <a:t>It is up to you whether to follow these guidelines while automating script.</a:t>
            </a:r>
          </a:p>
          <a:p>
            <a:pPr algn="just">
              <a:buFont typeface="Wingdings" pitchFamily="2" charset="2"/>
              <a:buChar char="ü"/>
            </a:pPr>
            <a:r>
              <a:rPr lang="en-US" dirty="0"/>
              <a:t> However, it is always beneficial to follow these guidelines in order to produce effective outcomes such as increase code re-usage, higher portability, reduced script maintenance cost etc.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IN" dirty="0"/>
              <a:t>Need of Framework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638800"/>
          </a:xfrm>
        </p:spPr>
        <p:txBody>
          <a:bodyPr>
            <a:normAutofit fontScale="55000" lnSpcReduction="20000"/>
          </a:bodyPr>
          <a:lstStyle/>
          <a:p>
            <a:pPr algn="just">
              <a:lnSpc>
                <a:spcPct val="110000"/>
              </a:lnSpc>
              <a:buFont typeface="Wingdings" pitchFamily="2" charset="2"/>
              <a:buChar char="ü"/>
            </a:pPr>
            <a:r>
              <a:rPr lang="en-US" sz="4300" dirty="0"/>
              <a:t>The initial requirement of having a standard way of writing tests is what will evolve into a framework.</a:t>
            </a:r>
          </a:p>
          <a:p>
            <a:pPr algn="just">
              <a:lnSpc>
                <a:spcPct val="110000"/>
              </a:lnSpc>
              <a:buFont typeface="Wingdings" pitchFamily="2" charset="2"/>
              <a:buChar char="ü"/>
            </a:pPr>
            <a:r>
              <a:rPr lang="en-US" sz="4300" dirty="0"/>
              <a:t>Every company or teams can have different frameworks but the whole idea will be to have a common set of rules.</a:t>
            </a:r>
          </a:p>
          <a:p>
            <a:pPr algn="just">
              <a:lnSpc>
                <a:spcPct val="110000"/>
              </a:lnSpc>
              <a:buFont typeface="Wingdings" pitchFamily="2" charset="2"/>
              <a:buChar char="ü"/>
            </a:pPr>
            <a:r>
              <a:rPr lang="en-US" sz="4300" dirty="0"/>
              <a:t>Without a framework in place, there will be one test case which will comprise the entire test functionality.</a:t>
            </a:r>
          </a:p>
          <a:p>
            <a:pPr algn="just">
              <a:lnSpc>
                <a:spcPct val="110000"/>
              </a:lnSpc>
              <a:buFont typeface="Wingdings" pitchFamily="2" charset="2"/>
              <a:buChar char="ü"/>
            </a:pPr>
            <a:r>
              <a:rPr lang="en-US" sz="4300" dirty="0"/>
              <a:t>Because of multiple line of code a test case so huge will be tough to read. </a:t>
            </a:r>
          </a:p>
          <a:p>
            <a:pPr algn="just">
              <a:lnSpc>
                <a:spcPct val="110000"/>
              </a:lnSpc>
              <a:buFont typeface="Wingdings" pitchFamily="2" charset="2"/>
              <a:buChar char="ü"/>
            </a:pPr>
            <a:r>
              <a:rPr lang="en-US" sz="4300" dirty="0"/>
              <a:t>Even if you want to modify any functionality later, then you will have a tough time modifying the code.</a:t>
            </a:r>
          </a:p>
          <a:p>
            <a:pPr algn="just">
              <a:lnSpc>
                <a:spcPct val="110000"/>
              </a:lnSpc>
              <a:buFont typeface="Wingdings" pitchFamily="2" charset="2"/>
              <a:buChar char="ü"/>
            </a:pPr>
            <a:r>
              <a:rPr lang="en-US" sz="4300" dirty="0"/>
              <a:t>Since the implementation of a framework, will result in smaller but multiple code pieces, there are various benefits.  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Benefits of Framework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ü"/>
            </a:pPr>
            <a:r>
              <a:rPr lang="en-US" dirty="0"/>
              <a:t>Increased code reusability</a:t>
            </a:r>
          </a:p>
          <a:p>
            <a:pPr>
              <a:buFont typeface="Wingdings" pitchFamily="2" charset="2"/>
              <a:buChar char="ü"/>
            </a:pPr>
            <a:r>
              <a:rPr lang="en-US" dirty="0"/>
              <a:t>Improved code readability</a:t>
            </a:r>
          </a:p>
          <a:p>
            <a:pPr>
              <a:buFont typeface="Wingdings" pitchFamily="2" charset="2"/>
              <a:buChar char="ü"/>
            </a:pPr>
            <a:r>
              <a:rPr lang="en-US" dirty="0"/>
              <a:t>Higher portability</a:t>
            </a:r>
          </a:p>
          <a:p>
            <a:pPr>
              <a:buFont typeface="Wingdings" pitchFamily="2" charset="2"/>
              <a:buChar char="ü"/>
            </a:pPr>
            <a:r>
              <a:rPr lang="en-US" dirty="0"/>
              <a:t>Reduced script maintenance</a:t>
            </a:r>
          </a:p>
          <a:p>
            <a:pPr>
              <a:buFont typeface="Wingdings" pitchFamily="2" charset="2"/>
              <a:buChar char="ü"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IN" dirty="0"/>
              <a:t>Hybrid Driven Framework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8610600" cy="3581400"/>
          </a:xfrm>
        </p:spPr>
        <p:txBody>
          <a:bodyPr>
            <a:normAutofit/>
          </a:bodyPr>
          <a:lstStyle/>
          <a:p>
            <a:pPr algn="just" fontAlgn="base">
              <a:buFont typeface="Wingdings" pitchFamily="2" charset="2"/>
              <a:buChar char="ü"/>
            </a:pPr>
            <a:r>
              <a:rPr lang="en-US" sz="2400" dirty="0"/>
              <a:t>The best thing about such a setup is that it leverages the benefits of all kinds of associated frameworks.</a:t>
            </a:r>
          </a:p>
          <a:p>
            <a:pPr algn="just" fontAlgn="base">
              <a:buFont typeface="Wingdings" pitchFamily="2" charset="2"/>
              <a:buChar char="ü"/>
            </a:pPr>
            <a:r>
              <a:rPr lang="en-US" sz="2400" dirty="0"/>
              <a:t>Hybrid framework is a technique wherein we can make the best use of both Data-Driven and Keyword-Driven Testing Framework.</a:t>
            </a:r>
          </a:p>
          <a:p>
            <a:pPr algn="just" fontAlgn="base">
              <a:buFont typeface="Wingdings" pitchFamily="2" charset="2"/>
              <a:buChar char="ü"/>
            </a:pPr>
            <a:r>
              <a:rPr lang="en-US" sz="2400" dirty="0"/>
              <a:t>For specification, it uses the data files to contain the keywords related to the application being tested. These keywords describe the set of actions that are required to perform a specific step. And sets of test data can be stored in the same data file or another source (</a:t>
            </a:r>
            <a:r>
              <a:rPr lang="en-US" sz="2400" dirty="0" err="1"/>
              <a:t>Exel</a:t>
            </a:r>
            <a:r>
              <a:rPr lang="en-US" sz="2400" dirty="0"/>
              <a:t>, CSV, JSON, database, ...).</a:t>
            </a:r>
          </a:p>
          <a:p>
            <a:pPr algn="just" fontAlgn="base">
              <a:buFont typeface="Wingdings" pitchFamily="2" charset="2"/>
              <a:buChar char="ü"/>
            </a:pPr>
            <a:endParaRPr lang="en-US" sz="2400" dirty="0"/>
          </a:p>
          <a:p>
            <a:pPr algn="just">
              <a:buFont typeface="Wingdings" pitchFamily="2" charset="2"/>
              <a:buChar char="ü"/>
            </a:pP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381000"/>
            <a:ext cx="8763000" cy="61722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>
              <a:buFont typeface="Wingdings" pitchFamily="2" charset="2"/>
              <a:buChar char="ü"/>
            </a:pPr>
            <a:r>
              <a:rPr lang="en-IN" dirty="0"/>
              <a:t>Hybrid Framework</a:t>
            </a:r>
            <a:endParaRPr lang="en-US" dirty="0"/>
          </a:p>
        </p:txBody>
      </p:sp>
      <p:sp>
        <p:nvSpPr>
          <p:cNvPr id="4" name="Up-Down Arrow 3"/>
          <p:cNvSpPr/>
          <p:nvPr/>
        </p:nvSpPr>
        <p:spPr>
          <a:xfrm>
            <a:off x="5791200" y="914400"/>
            <a:ext cx="990600" cy="5486400"/>
          </a:xfrm>
          <a:prstGeom prst="upDow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lowchart: Punched Tape 4"/>
          <p:cNvSpPr/>
          <p:nvPr/>
        </p:nvSpPr>
        <p:spPr>
          <a:xfrm>
            <a:off x="6858000" y="1143000"/>
            <a:ext cx="1828800" cy="1524000"/>
          </a:xfrm>
          <a:prstGeom prst="flowChartPunchedTap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Page Objects</a:t>
            </a:r>
            <a:endParaRPr lang="en-US" dirty="0"/>
          </a:p>
        </p:txBody>
      </p:sp>
      <p:sp>
        <p:nvSpPr>
          <p:cNvPr id="6" name="Flowchart: Punched Tape 5"/>
          <p:cNvSpPr/>
          <p:nvPr/>
        </p:nvSpPr>
        <p:spPr>
          <a:xfrm>
            <a:off x="6858000" y="2743200"/>
            <a:ext cx="1828800" cy="1524000"/>
          </a:xfrm>
          <a:prstGeom prst="flowChartPunchedTap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Utilities</a:t>
            </a:r>
          </a:p>
        </p:txBody>
      </p:sp>
      <p:sp>
        <p:nvSpPr>
          <p:cNvPr id="7" name="Flowchart: Punched Tape 6"/>
          <p:cNvSpPr/>
          <p:nvPr/>
        </p:nvSpPr>
        <p:spPr>
          <a:xfrm>
            <a:off x="6934200" y="4343400"/>
            <a:ext cx="1828800" cy="1524000"/>
          </a:xfrm>
          <a:prstGeom prst="flowChartPunchedTap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Config files</a:t>
            </a:r>
            <a:endParaRPr lang="en-US" dirty="0"/>
          </a:p>
        </p:txBody>
      </p:sp>
      <p:sp>
        <p:nvSpPr>
          <p:cNvPr id="8" name="Flowchart: Alternate Process 7"/>
          <p:cNvSpPr/>
          <p:nvPr/>
        </p:nvSpPr>
        <p:spPr>
          <a:xfrm>
            <a:off x="3657600" y="1828800"/>
            <a:ext cx="2209800" cy="3124200"/>
          </a:xfrm>
          <a:prstGeom prst="flowChartAlternateProcess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Test Cases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r>
              <a:rPr lang="en-IN" dirty="0"/>
              <a:t>Base Class</a:t>
            </a:r>
            <a:endParaRPr lang="en-US" dirty="0"/>
          </a:p>
        </p:txBody>
      </p:sp>
      <p:sp>
        <p:nvSpPr>
          <p:cNvPr id="9" name="Pentagon 8"/>
          <p:cNvSpPr/>
          <p:nvPr/>
        </p:nvSpPr>
        <p:spPr>
          <a:xfrm>
            <a:off x="228600" y="1828800"/>
            <a:ext cx="1371600" cy="1066800"/>
          </a:xfrm>
          <a:prstGeom prst="homePlat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Maven</a:t>
            </a:r>
            <a:endParaRPr lang="en-US" dirty="0"/>
          </a:p>
        </p:txBody>
      </p:sp>
      <p:sp>
        <p:nvSpPr>
          <p:cNvPr id="10" name="Flowchart: Document 9"/>
          <p:cNvSpPr/>
          <p:nvPr/>
        </p:nvSpPr>
        <p:spPr>
          <a:xfrm>
            <a:off x="1981200" y="1752600"/>
            <a:ext cx="1295400" cy="1371600"/>
          </a:xfrm>
          <a:prstGeom prst="flowChartDocumen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TestNG.xml</a:t>
            </a:r>
            <a:endParaRPr lang="en-US" dirty="0"/>
          </a:p>
        </p:txBody>
      </p:sp>
      <p:sp>
        <p:nvSpPr>
          <p:cNvPr id="11" name="Flowchart: Process 10"/>
          <p:cNvSpPr/>
          <p:nvPr/>
        </p:nvSpPr>
        <p:spPr>
          <a:xfrm>
            <a:off x="152400" y="3733800"/>
            <a:ext cx="1447800" cy="838200"/>
          </a:xfrm>
          <a:prstGeom prst="flowChartProcess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Jenkins</a:t>
            </a:r>
            <a:endParaRPr lang="en-US" dirty="0"/>
          </a:p>
        </p:txBody>
      </p:sp>
      <p:sp>
        <p:nvSpPr>
          <p:cNvPr id="12" name="Flowchart: Process 11"/>
          <p:cNvSpPr/>
          <p:nvPr/>
        </p:nvSpPr>
        <p:spPr>
          <a:xfrm>
            <a:off x="1828800" y="3733800"/>
            <a:ext cx="1600200" cy="838200"/>
          </a:xfrm>
          <a:prstGeom prst="flowChartProcess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POM.xml</a:t>
            </a: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228600" y="5257800"/>
            <a:ext cx="2895600" cy="914400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Reports</a:t>
            </a:r>
            <a:endParaRPr lang="en-US" dirty="0"/>
          </a:p>
        </p:txBody>
      </p:sp>
      <p:cxnSp>
        <p:nvCxnSpPr>
          <p:cNvPr id="15" name="Straight Connector 14"/>
          <p:cNvCxnSpPr>
            <a:stCxn id="8" idx="1"/>
            <a:endCxn id="8" idx="3"/>
          </p:cNvCxnSpPr>
          <p:nvPr/>
        </p:nvCxnSpPr>
        <p:spPr>
          <a:xfrm rot="10800000" flipH="1">
            <a:off x="3657600" y="3390900"/>
            <a:ext cx="2209800" cy="15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Down Arrow 15"/>
          <p:cNvSpPr/>
          <p:nvPr/>
        </p:nvSpPr>
        <p:spPr>
          <a:xfrm>
            <a:off x="1219200" y="4572000"/>
            <a:ext cx="838200" cy="762000"/>
          </a:xfrm>
          <a:prstGeom prst="dow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8077200" y="914400"/>
            <a:ext cx="381000" cy="3810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  <a:endParaRPr lang="en-US" dirty="0"/>
          </a:p>
        </p:txBody>
      </p:sp>
      <p:sp>
        <p:nvSpPr>
          <p:cNvPr id="19" name="Oval 18"/>
          <p:cNvSpPr/>
          <p:nvPr/>
        </p:nvSpPr>
        <p:spPr>
          <a:xfrm>
            <a:off x="4648200" y="1676400"/>
            <a:ext cx="381000" cy="3810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  <a:endParaRPr lang="en-US" dirty="0"/>
          </a:p>
        </p:txBody>
      </p:sp>
      <p:sp>
        <p:nvSpPr>
          <p:cNvPr id="20" name="Oval 19"/>
          <p:cNvSpPr/>
          <p:nvPr/>
        </p:nvSpPr>
        <p:spPr>
          <a:xfrm>
            <a:off x="8382000" y="4267200"/>
            <a:ext cx="381000" cy="3810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  <a:endParaRPr lang="en-US" dirty="0"/>
          </a:p>
        </p:txBody>
      </p:sp>
      <p:sp>
        <p:nvSpPr>
          <p:cNvPr id="22" name="Oval 21"/>
          <p:cNvSpPr/>
          <p:nvPr/>
        </p:nvSpPr>
        <p:spPr>
          <a:xfrm>
            <a:off x="8305800" y="2590800"/>
            <a:ext cx="381000" cy="3810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  <a:endParaRPr lang="en-US" dirty="0"/>
          </a:p>
        </p:txBody>
      </p:sp>
      <p:sp>
        <p:nvSpPr>
          <p:cNvPr id="23" name="Oval 22"/>
          <p:cNvSpPr/>
          <p:nvPr/>
        </p:nvSpPr>
        <p:spPr>
          <a:xfrm>
            <a:off x="609600" y="3429000"/>
            <a:ext cx="381000" cy="3810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7</a:t>
            </a:r>
            <a:endParaRPr lang="en-US" dirty="0"/>
          </a:p>
        </p:txBody>
      </p:sp>
      <p:sp>
        <p:nvSpPr>
          <p:cNvPr id="24" name="Oval 23"/>
          <p:cNvSpPr/>
          <p:nvPr/>
        </p:nvSpPr>
        <p:spPr>
          <a:xfrm>
            <a:off x="533400" y="1676400"/>
            <a:ext cx="381000" cy="3810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6</a:t>
            </a:r>
            <a:endParaRPr lang="en-US" dirty="0"/>
          </a:p>
        </p:txBody>
      </p:sp>
      <p:sp>
        <p:nvSpPr>
          <p:cNvPr id="25" name="Oval 24"/>
          <p:cNvSpPr/>
          <p:nvPr/>
        </p:nvSpPr>
        <p:spPr>
          <a:xfrm>
            <a:off x="2362200" y="3200400"/>
            <a:ext cx="381000" cy="3810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5</a:t>
            </a:r>
            <a:endParaRPr lang="en-US" dirty="0"/>
          </a:p>
        </p:txBody>
      </p:sp>
      <p:sp>
        <p:nvSpPr>
          <p:cNvPr id="27" name="Left-Right Arrow 26"/>
          <p:cNvSpPr/>
          <p:nvPr/>
        </p:nvSpPr>
        <p:spPr>
          <a:xfrm>
            <a:off x="1524000" y="2209800"/>
            <a:ext cx="457200" cy="228600"/>
          </a:xfrm>
          <a:prstGeom prst="left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Left-Right Arrow 27"/>
          <p:cNvSpPr/>
          <p:nvPr/>
        </p:nvSpPr>
        <p:spPr>
          <a:xfrm>
            <a:off x="3276600" y="2209800"/>
            <a:ext cx="457200" cy="228600"/>
          </a:xfrm>
          <a:prstGeom prst="left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Down Arrow 28"/>
          <p:cNvSpPr/>
          <p:nvPr/>
        </p:nvSpPr>
        <p:spPr>
          <a:xfrm>
            <a:off x="609600" y="2895600"/>
            <a:ext cx="228600" cy="533400"/>
          </a:xfrm>
          <a:prstGeom prst="dow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IN" dirty="0"/>
              <a:t>Design Pattern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638800"/>
          </a:xfrm>
        </p:spPr>
        <p:txBody>
          <a:bodyPr>
            <a:normAutofit fontScale="85000" lnSpcReduction="20000"/>
          </a:bodyPr>
          <a:lstStyle/>
          <a:p>
            <a:pPr algn="just">
              <a:buFont typeface="Wingdings" pitchFamily="2" charset="2"/>
              <a:buChar char="ü"/>
            </a:pPr>
            <a:r>
              <a:rPr lang="en-US" dirty="0"/>
              <a:t>Design patterns are used extensively when programming and they generally offer a reusable solution to a known occurring problem.</a:t>
            </a:r>
          </a:p>
          <a:p>
            <a:pPr algn="just">
              <a:buFont typeface="Wingdings" pitchFamily="2" charset="2"/>
              <a:buChar char="ü"/>
            </a:pPr>
            <a:r>
              <a:rPr lang="en-US" dirty="0"/>
              <a:t> In many respects, the introduce a set of best practices into your code and usually result in more flexible and maintainable code.</a:t>
            </a:r>
          </a:p>
          <a:p>
            <a:pPr algn="just">
              <a:buFont typeface="Wingdings" pitchFamily="2" charset="2"/>
              <a:buChar char="ü"/>
            </a:pPr>
            <a:r>
              <a:rPr lang="en-US" dirty="0"/>
              <a:t>Design patterns are used to build different parts of the frameworks</a:t>
            </a:r>
          </a:p>
          <a:p>
            <a:pPr algn="just">
              <a:buFont typeface="Wingdings" pitchFamily="2" charset="2"/>
              <a:buChar char="ü"/>
            </a:pPr>
            <a:r>
              <a:rPr lang="en-US" dirty="0"/>
              <a:t>Design patterns are smaller architectural elements than frameworks.</a:t>
            </a:r>
          </a:p>
          <a:p>
            <a:pPr algn="just">
              <a:buFont typeface="Wingdings" pitchFamily="2" charset="2"/>
              <a:buChar char="ü"/>
            </a:pPr>
            <a:r>
              <a:rPr lang="en-US" dirty="0"/>
              <a:t> A typical framework contains several design patterns, but the reverse is never true</a:t>
            </a:r>
          </a:p>
          <a:p>
            <a:pPr algn="just">
              <a:buFont typeface="Wingdings" pitchFamily="2" charset="2"/>
              <a:buChar char="ü"/>
            </a:pPr>
            <a:r>
              <a:rPr lang="en-US" dirty="0"/>
              <a:t>Framework can be reused directly whereas Design patterns are project specific</a:t>
            </a:r>
          </a:p>
          <a:p>
            <a:pPr algn="just">
              <a:buFont typeface="Wingdings" pitchFamily="2" charset="2"/>
              <a:buChar char="ü"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</p:spPr>
        <p:txBody>
          <a:bodyPr/>
          <a:lstStyle/>
          <a:p>
            <a:r>
              <a:rPr lang="en-IN" dirty="0"/>
              <a:t>Page Object Model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534400" cy="396240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ü"/>
            </a:pPr>
            <a:r>
              <a:rPr lang="en-US" sz="2400" dirty="0"/>
              <a:t>Page Object is a Design Pattern which has become popular in test automation for enhancing test maintenance and reducing code duplication. 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400" dirty="0"/>
              <a:t>A page object is an object-oriented class that serves as an interface to a page of your AUT.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400" dirty="0"/>
              <a:t> Every web page in the application should have a corresponding page class.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3657600"/>
            <a:ext cx="7391400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IN" dirty="0"/>
              <a:t>Page Object Model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8610600" cy="548640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ü"/>
            </a:pPr>
            <a:r>
              <a:rPr lang="en-US" sz="2400" dirty="0"/>
              <a:t>Page Object is a class that represents a web page and hold the functionality and members.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400" dirty="0"/>
              <a:t>This Page class will find the </a:t>
            </a:r>
            <a:r>
              <a:rPr lang="en-US" sz="2400" dirty="0" err="1"/>
              <a:t>WebElements</a:t>
            </a:r>
            <a:r>
              <a:rPr lang="en-US" sz="2400" dirty="0"/>
              <a:t> and also may contain page methods which perform operations on those </a:t>
            </a:r>
            <a:r>
              <a:rPr lang="en-US" sz="2400" dirty="0" err="1"/>
              <a:t>WebElements</a:t>
            </a:r>
            <a:r>
              <a:rPr lang="en-US" sz="2400" dirty="0"/>
              <a:t>.</a:t>
            </a:r>
          </a:p>
          <a:p>
            <a:pPr algn="just">
              <a:buFont typeface="Wingdings" pitchFamily="2" charset="2"/>
              <a:buChar char="ü"/>
            </a:pPr>
            <a:r>
              <a:rPr lang="en-IN" sz="2400" dirty="0"/>
              <a:t>Advantages</a:t>
            </a:r>
            <a:endParaRPr lang="en-US" sz="2400" dirty="0"/>
          </a:p>
          <a:p>
            <a:pPr lvl="1" algn="just">
              <a:buFont typeface="Wingdings" pitchFamily="2" charset="2"/>
              <a:buChar char="Ø"/>
            </a:pPr>
            <a:r>
              <a:rPr lang="en-US" sz="2200" dirty="0"/>
              <a:t>Makes our code cleaner and easy to understand - keeps our tests and element locators separately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sz="2200" dirty="0"/>
              <a:t>Easy to visualize each step of the scenario, view and edit test cases intuitively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sz="2200" dirty="0"/>
              <a:t>POM approach makes framework programmer friendly, more durable and comprehensive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sz="2200" dirty="0"/>
              <a:t>Any UI change can easily be implemented, updated and maintained into the Page Objects and Classes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sz="2200" dirty="0"/>
              <a:t>Re-usability of code - object repository is independent of test cases</a:t>
            </a:r>
          </a:p>
          <a:p>
            <a:pPr algn="just">
              <a:buFont typeface="Wingdings" pitchFamily="2" charset="2"/>
              <a:buChar char="ü"/>
            </a:pP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/>
          <a:lstStyle/>
          <a:p>
            <a:r>
              <a:rPr lang="en-IN" dirty="0"/>
              <a:t>Ways for POM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762000"/>
            <a:ext cx="8382000" cy="5867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IN" sz="2100" b="1" dirty="0"/>
              <a:t>1.Using normal approach (By)</a:t>
            </a:r>
          </a:p>
          <a:p>
            <a:pPr marL="615950" lvl="1" indent="0" fontAlgn="base">
              <a:buNone/>
            </a:pPr>
            <a:r>
              <a:rPr lang="en-US" sz="2100" b="1" dirty="0"/>
              <a:t>public class Login</a:t>
            </a:r>
          </a:p>
          <a:p>
            <a:pPr marL="615950" lvl="1" indent="0" fontAlgn="base">
              <a:buNone/>
            </a:pPr>
            <a:r>
              <a:rPr lang="en-US" sz="2100" b="1" dirty="0"/>
              <a:t>{</a:t>
            </a:r>
          </a:p>
          <a:p>
            <a:pPr marL="615950" lvl="1" indent="0" fontAlgn="base">
              <a:buNone/>
            </a:pPr>
            <a:r>
              <a:rPr lang="en-US" sz="2100" b="1" dirty="0" err="1"/>
              <a:t>WebDriver</a:t>
            </a:r>
            <a:r>
              <a:rPr lang="en-US" sz="2100" b="1" dirty="0"/>
              <a:t> driver;</a:t>
            </a:r>
          </a:p>
          <a:p>
            <a:pPr marL="615950" lvl="1" indent="0" fontAlgn="base">
              <a:buNone/>
            </a:pPr>
            <a:r>
              <a:rPr lang="en-US" sz="2100" b="1" dirty="0"/>
              <a:t>public  Login(</a:t>
            </a:r>
            <a:r>
              <a:rPr lang="en-US" sz="2100" b="1" dirty="0" err="1"/>
              <a:t>WebDriver</a:t>
            </a:r>
            <a:r>
              <a:rPr lang="en-US" sz="2100" b="1" dirty="0"/>
              <a:t> driver)</a:t>
            </a:r>
          </a:p>
          <a:p>
            <a:pPr marL="615950" lvl="1" indent="0" fontAlgn="base">
              <a:buNone/>
            </a:pPr>
            <a:r>
              <a:rPr lang="en-US" sz="2100" b="1" dirty="0"/>
              <a:t>{</a:t>
            </a:r>
          </a:p>
          <a:p>
            <a:pPr marL="615950" lvl="1" indent="0" fontAlgn="base">
              <a:buNone/>
            </a:pPr>
            <a:r>
              <a:rPr lang="en-US" sz="2100" b="1" dirty="0"/>
              <a:t>	</a:t>
            </a:r>
            <a:r>
              <a:rPr lang="en-US" sz="2100" b="1" dirty="0" err="1"/>
              <a:t>this.driver</a:t>
            </a:r>
            <a:r>
              <a:rPr lang="en-US" sz="2100" b="1" dirty="0"/>
              <a:t>=driver;</a:t>
            </a:r>
          </a:p>
          <a:p>
            <a:pPr marL="615950" lvl="1" indent="0" fontAlgn="base">
              <a:buNone/>
            </a:pPr>
            <a:r>
              <a:rPr lang="en-US" sz="2100" b="1" dirty="0"/>
              <a:t>}</a:t>
            </a:r>
          </a:p>
          <a:p>
            <a:pPr marL="615950" lvl="1" indent="0" fontAlgn="base">
              <a:buNone/>
            </a:pPr>
            <a:r>
              <a:rPr lang="en-US" sz="2100" b="1" dirty="0"/>
              <a:t>By </a:t>
            </a:r>
            <a:r>
              <a:rPr lang="en-US" sz="2100" b="1" dirty="0" err="1"/>
              <a:t>uname</a:t>
            </a:r>
            <a:r>
              <a:rPr lang="en-US" sz="2100" b="1" dirty="0"/>
              <a:t>=</a:t>
            </a:r>
            <a:r>
              <a:rPr lang="en-US" sz="2100" b="1" dirty="0" err="1"/>
              <a:t>By.xpath</a:t>
            </a:r>
            <a:r>
              <a:rPr lang="en-US" sz="2100" b="1" dirty="0"/>
              <a:t>(“”)</a:t>
            </a:r>
          </a:p>
          <a:p>
            <a:pPr marL="615950" lvl="1" indent="0" fontAlgn="base">
              <a:buNone/>
            </a:pPr>
            <a:r>
              <a:rPr lang="en-US" sz="2100" b="1" dirty="0"/>
              <a:t>public void  </a:t>
            </a:r>
            <a:r>
              <a:rPr lang="en-US" sz="2100" b="1" dirty="0" err="1"/>
              <a:t>enterUsername</a:t>
            </a:r>
            <a:r>
              <a:rPr lang="en-US" sz="2100" b="1" dirty="0"/>
              <a:t>()</a:t>
            </a:r>
          </a:p>
          <a:p>
            <a:pPr marL="615950" lvl="1" indent="0" fontAlgn="base">
              <a:buNone/>
            </a:pPr>
            <a:r>
              <a:rPr lang="en-US" sz="2100" b="1" dirty="0"/>
              <a:t>{</a:t>
            </a:r>
          </a:p>
          <a:p>
            <a:pPr marL="615950" lvl="1" indent="0" fontAlgn="base">
              <a:buNone/>
            </a:pPr>
            <a:r>
              <a:rPr lang="en-US" sz="2100" b="1" dirty="0"/>
              <a:t>	</a:t>
            </a:r>
            <a:r>
              <a:rPr lang="en-US" sz="2100" b="1" dirty="0" err="1"/>
              <a:t>driver.findElement</a:t>
            </a:r>
            <a:r>
              <a:rPr lang="en-US" sz="2100" b="1" dirty="0"/>
              <a:t>(</a:t>
            </a:r>
            <a:r>
              <a:rPr lang="en-US" sz="2100" b="1" dirty="0" err="1"/>
              <a:t>uname</a:t>
            </a:r>
            <a:r>
              <a:rPr lang="en-US" sz="2100" b="1" dirty="0"/>
              <a:t>).</a:t>
            </a:r>
            <a:r>
              <a:rPr lang="en-US" sz="2100" b="1" dirty="0" err="1"/>
              <a:t>sendKeys</a:t>
            </a:r>
            <a:r>
              <a:rPr lang="en-US" sz="2100" b="1" dirty="0"/>
              <a:t>(“”)</a:t>
            </a:r>
            <a:br>
              <a:rPr lang="en-US" sz="2100" b="1" dirty="0"/>
            </a:br>
            <a:r>
              <a:rPr lang="en-US" sz="2100" b="1" dirty="0"/>
              <a:t>} </a:t>
            </a:r>
            <a:r>
              <a:rPr lang="en-IN" sz="2100" b="1" dirty="0"/>
              <a:t>}</a:t>
            </a:r>
          </a:p>
          <a:p>
            <a:pPr marL="615950" lvl="1" indent="0" fontAlgn="base">
              <a:buNone/>
            </a:pPr>
            <a:r>
              <a:rPr lang="en-IN" sz="2100" b="1" dirty="0"/>
              <a:t>Test Case</a:t>
            </a:r>
          </a:p>
          <a:p>
            <a:pPr marL="615950" lvl="1" indent="0" fontAlgn="base">
              <a:buNone/>
            </a:pPr>
            <a:r>
              <a:rPr lang="en-IN" sz="2100" b="1" dirty="0"/>
              <a:t>Login l1=new Login(</a:t>
            </a:r>
            <a:r>
              <a:rPr lang="en-IN" sz="2100" b="1" dirty="0" err="1"/>
              <a:t>WebDriver</a:t>
            </a:r>
            <a:r>
              <a:rPr lang="en-IN" sz="2100" b="1" dirty="0"/>
              <a:t> driver);</a:t>
            </a:r>
            <a:endParaRPr lang="en-US" sz="2100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IN" dirty="0" err="1"/>
              <a:t>PageFactory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458200" cy="5715000"/>
          </a:xfrm>
        </p:spPr>
        <p:txBody>
          <a:bodyPr>
            <a:normAutofit fontScale="92500" lnSpcReduction="10000"/>
          </a:bodyPr>
          <a:lstStyle/>
          <a:p>
            <a:pPr algn="just">
              <a:buFont typeface="Wingdings" pitchFamily="2" charset="2"/>
              <a:buChar char="ü"/>
            </a:pPr>
            <a:r>
              <a:rPr lang="en-US" sz="2600" dirty="0"/>
              <a:t>Page Factory is a class provided by Selenium </a:t>
            </a:r>
            <a:r>
              <a:rPr lang="en-US" sz="2600" dirty="0" err="1"/>
              <a:t>WebDriver</a:t>
            </a:r>
            <a:r>
              <a:rPr lang="en-US" sz="2600" dirty="0"/>
              <a:t> to support Page Object Design patterns. In Page Factory, testers use @</a:t>
            </a:r>
            <a:r>
              <a:rPr lang="en-US" sz="2600" dirty="0" err="1"/>
              <a:t>FindBy</a:t>
            </a:r>
            <a:r>
              <a:rPr lang="en-US" sz="2600" dirty="0"/>
              <a:t> annotation. 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600" dirty="0"/>
              <a:t>The </a:t>
            </a:r>
            <a:r>
              <a:rPr lang="en-US" sz="2600" b="1" dirty="0" err="1"/>
              <a:t>initElements</a:t>
            </a:r>
            <a:r>
              <a:rPr lang="en-US" sz="2600" dirty="0"/>
              <a:t> method is used to initialize web elements.</a:t>
            </a:r>
            <a:r>
              <a:rPr lang="en-US" sz="2800" b="1" dirty="0"/>
              <a:t> </a:t>
            </a:r>
            <a:r>
              <a:rPr lang="en-US" sz="2800" b="1" dirty="0" err="1"/>
              <a:t>initElements</a:t>
            </a:r>
            <a:r>
              <a:rPr lang="en-US" sz="2800" dirty="0"/>
              <a:t> is a static method in Page Factory class. Using the </a:t>
            </a:r>
            <a:r>
              <a:rPr lang="en-US" sz="2800" b="1" dirty="0" err="1"/>
              <a:t>initElements</a:t>
            </a:r>
            <a:r>
              <a:rPr lang="en-US" sz="2800" dirty="0"/>
              <a:t> method, one can initialize all the web elements located by </a:t>
            </a:r>
            <a:r>
              <a:rPr lang="en-US" sz="2800" b="1" dirty="0"/>
              <a:t>@</a:t>
            </a:r>
            <a:r>
              <a:rPr lang="en-US" sz="2800" b="1" dirty="0" err="1"/>
              <a:t>FindBy</a:t>
            </a:r>
            <a:r>
              <a:rPr lang="en-US" sz="2800" dirty="0"/>
              <a:t> annotation.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600" b="1" dirty="0"/>
              <a:t>@</a:t>
            </a:r>
            <a:r>
              <a:rPr lang="en-US" sz="2600" b="1" dirty="0" err="1"/>
              <a:t>FindBy</a:t>
            </a:r>
            <a:r>
              <a:rPr lang="en-US" sz="2600" dirty="0"/>
              <a:t>: An annotation used in Page Factory to locate and declare web elements using different locators. Below is an example of declaring an element using  @</a:t>
            </a:r>
            <a:r>
              <a:rPr lang="en-US" sz="2600" dirty="0" err="1"/>
              <a:t>FindBy</a:t>
            </a:r>
            <a:r>
              <a:rPr lang="en-US" sz="2600" dirty="0"/>
              <a:t>.</a:t>
            </a:r>
          </a:p>
          <a:p>
            <a:pPr algn="just">
              <a:buFont typeface="Wingdings" pitchFamily="2" charset="2"/>
              <a:buChar char="ü"/>
            </a:pPr>
            <a:r>
              <a:rPr lang="en-IN" sz="2600" b="1" dirty="0"/>
              <a:t>Syntax:</a:t>
            </a:r>
            <a:endParaRPr lang="en-US" sz="2600" b="1" dirty="0"/>
          </a:p>
          <a:p>
            <a:pPr algn="just">
              <a:buFont typeface="Wingdings" pitchFamily="2" charset="2"/>
              <a:buChar char="ü"/>
            </a:pPr>
            <a:r>
              <a:rPr lang="en-US" sz="2600" b="1" dirty="0"/>
              <a:t>@</a:t>
            </a:r>
            <a:r>
              <a:rPr lang="en-US" sz="2600" b="1" dirty="0" err="1"/>
              <a:t>FindBy</a:t>
            </a:r>
            <a:r>
              <a:rPr lang="en-US" sz="2600" b="1" dirty="0"/>
              <a:t>(id="</a:t>
            </a:r>
            <a:r>
              <a:rPr lang="en-US" sz="2600" b="1" dirty="0" err="1"/>
              <a:t>elementId</a:t>
            </a:r>
            <a:r>
              <a:rPr lang="en-US" sz="2600" b="1" dirty="0"/>
              <a:t>") </a:t>
            </a:r>
            <a:r>
              <a:rPr lang="en-US" sz="2600" b="1" dirty="0" err="1"/>
              <a:t>WebElement</a:t>
            </a:r>
            <a:r>
              <a:rPr lang="en-US" sz="2600" b="1" dirty="0"/>
              <a:t> element;</a:t>
            </a:r>
          </a:p>
          <a:p>
            <a:pPr algn="just">
              <a:buFont typeface="Wingdings" pitchFamily="2" charset="2"/>
              <a:buChar char="ü"/>
            </a:pPr>
            <a:r>
              <a:rPr lang="en-IN" sz="2600" dirty="0"/>
              <a:t>Or</a:t>
            </a:r>
          </a:p>
          <a:p>
            <a:pPr algn="just">
              <a:buFont typeface="Wingdings" pitchFamily="2" charset="2"/>
              <a:buChar char="ü"/>
            </a:pPr>
            <a:r>
              <a:rPr lang="en-IN" sz="2600" b="1" dirty="0"/>
              <a:t>@</a:t>
            </a:r>
            <a:r>
              <a:rPr lang="en-IN" sz="2600" b="1" dirty="0" err="1"/>
              <a:t>FindBy</a:t>
            </a:r>
            <a:r>
              <a:rPr lang="en-IN" sz="2600" b="1" dirty="0"/>
              <a:t>(how=</a:t>
            </a:r>
            <a:r>
              <a:rPr lang="en-IN" sz="2600" b="1" dirty="0" err="1"/>
              <a:t>HOW.ID,using</a:t>
            </a:r>
            <a:r>
              <a:rPr lang="en-IN" sz="2600" b="1" dirty="0"/>
              <a:t>=“</a:t>
            </a:r>
            <a:r>
              <a:rPr lang="en-IN" sz="2600" b="1" dirty="0" err="1"/>
              <a:t>elementId</a:t>
            </a:r>
            <a:r>
              <a:rPr lang="en-IN" sz="2600" b="1" dirty="0"/>
              <a:t>”)</a:t>
            </a:r>
          </a:p>
          <a:p>
            <a:pPr algn="just">
              <a:buNone/>
            </a:pPr>
            <a:r>
              <a:rPr lang="en-IN" sz="2600" b="1" dirty="0"/>
              <a:t>	</a:t>
            </a:r>
            <a:r>
              <a:rPr lang="en-IN" sz="2600" b="1" dirty="0" err="1"/>
              <a:t>WebElement</a:t>
            </a:r>
            <a:r>
              <a:rPr lang="en-IN" sz="2600" b="1" dirty="0"/>
              <a:t> element;</a:t>
            </a:r>
            <a:endParaRPr lang="en-US" sz="2600" b="1" dirty="0"/>
          </a:p>
          <a:p>
            <a:endParaRPr lang="en-IN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7924800" cy="6400800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IN" b="1" dirty="0"/>
              <a:t>2.Using Page Factory class(@FindBy)</a:t>
            </a:r>
          </a:p>
          <a:p>
            <a:pPr marL="615950" lvl="1" indent="0" fontAlgn="base">
              <a:buNone/>
            </a:pPr>
            <a:r>
              <a:rPr lang="en-US" sz="3400" b="1" dirty="0"/>
              <a:t>public class Login</a:t>
            </a:r>
          </a:p>
          <a:p>
            <a:pPr marL="615950" lvl="1" indent="0" fontAlgn="base">
              <a:buNone/>
            </a:pPr>
            <a:r>
              <a:rPr lang="en-US" sz="3400" b="1" dirty="0"/>
              <a:t>{</a:t>
            </a:r>
          </a:p>
          <a:p>
            <a:pPr marL="615950" lvl="1" indent="0" fontAlgn="base">
              <a:buNone/>
            </a:pPr>
            <a:r>
              <a:rPr lang="en-US" sz="3400" b="1" dirty="0" err="1"/>
              <a:t>WebDriver</a:t>
            </a:r>
            <a:r>
              <a:rPr lang="en-US" sz="3400" b="1" dirty="0"/>
              <a:t> driver;</a:t>
            </a:r>
          </a:p>
          <a:p>
            <a:pPr marL="615950" lvl="1" indent="0" fontAlgn="base">
              <a:buNone/>
            </a:pPr>
            <a:r>
              <a:rPr lang="en-US" sz="3400" b="1" dirty="0"/>
              <a:t>public  Login(</a:t>
            </a:r>
            <a:r>
              <a:rPr lang="en-US" sz="3400" b="1" dirty="0" err="1"/>
              <a:t>WebDriver</a:t>
            </a:r>
            <a:r>
              <a:rPr lang="en-US" sz="3400" b="1" dirty="0"/>
              <a:t> driver)</a:t>
            </a:r>
          </a:p>
          <a:p>
            <a:pPr marL="615950" lvl="1" indent="0" fontAlgn="base">
              <a:buNone/>
            </a:pPr>
            <a:r>
              <a:rPr lang="en-US" sz="3400" b="1" dirty="0"/>
              <a:t>{</a:t>
            </a:r>
          </a:p>
          <a:p>
            <a:pPr marL="615950" lvl="1" indent="0" fontAlgn="base">
              <a:buNone/>
            </a:pPr>
            <a:r>
              <a:rPr lang="en-US" sz="3400" b="1" dirty="0"/>
              <a:t>	</a:t>
            </a:r>
            <a:r>
              <a:rPr lang="en-US" sz="3400" b="1" dirty="0" err="1"/>
              <a:t>this.driver</a:t>
            </a:r>
            <a:r>
              <a:rPr lang="en-US" sz="3400" b="1" dirty="0"/>
              <a:t>=driver;</a:t>
            </a:r>
          </a:p>
          <a:p>
            <a:pPr marL="615950" lvl="1" indent="0" fontAlgn="base">
              <a:buNone/>
            </a:pPr>
            <a:r>
              <a:rPr lang="en-US" sz="3400" b="1" dirty="0"/>
              <a:t>}</a:t>
            </a:r>
          </a:p>
          <a:p>
            <a:pPr marL="615950" lvl="1" indent="0" fontAlgn="base">
              <a:buNone/>
            </a:pPr>
            <a:r>
              <a:rPr lang="en-US" sz="3400" b="1" dirty="0"/>
              <a:t>@</a:t>
            </a:r>
            <a:r>
              <a:rPr lang="en-US" sz="3400" b="1" dirty="0" err="1"/>
              <a:t>FindBy</a:t>
            </a:r>
            <a:r>
              <a:rPr lang="en-US" sz="3400" b="1" dirty="0"/>
              <a:t>()id=“</a:t>
            </a:r>
            <a:r>
              <a:rPr lang="en-US" sz="3400" b="1" dirty="0" err="1"/>
              <a:t>txtusername</a:t>
            </a:r>
            <a:r>
              <a:rPr lang="en-US" sz="3400" b="1" dirty="0"/>
              <a:t>”</a:t>
            </a:r>
          </a:p>
          <a:p>
            <a:pPr marL="615950" lvl="1" indent="0" fontAlgn="base">
              <a:buNone/>
            </a:pPr>
            <a:r>
              <a:rPr lang="en-IN" sz="3400" b="1" dirty="0" err="1"/>
              <a:t>WebElement</a:t>
            </a:r>
            <a:r>
              <a:rPr lang="en-IN" sz="3400" b="1" dirty="0"/>
              <a:t> username</a:t>
            </a:r>
            <a:endParaRPr lang="en-US" sz="3400" b="1" dirty="0"/>
          </a:p>
          <a:p>
            <a:pPr marL="615950" lvl="1" indent="0" fontAlgn="base">
              <a:buNone/>
            </a:pPr>
            <a:endParaRPr lang="en-US" sz="3400" b="1" dirty="0"/>
          </a:p>
          <a:p>
            <a:pPr marL="615950" lvl="1" indent="0" fontAlgn="base">
              <a:buNone/>
            </a:pPr>
            <a:r>
              <a:rPr lang="en-US" sz="3400" b="1" dirty="0"/>
              <a:t>public void  </a:t>
            </a:r>
            <a:r>
              <a:rPr lang="en-US" sz="3400" b="1" dirty="0" err="1"/>
              <a:t>enterUsername</a:t>
            </a:r>
            <a:r>
              <a:rPr lang="en-US" sz="3400" b="1" dirty="0"/>
              <a:t>()</a:t>
            </a:r>
          </a:p>
          <a:p>
            <a:pPr marL="615950" lvl="1" indent="0" fontAlgn="base">
              <a:buNone/>
            </a:pPr>
            <a:r>
              <a:rPr lang="en-US" sz="3400" b="1" dirty="0"/>
              <a:t>{</a:t>
            </a:r>
          </a:p>
          <a:p>
            <a:pPr marL="615950" lvl="1" indent="0" fontAlgn="base">
              <a:buNone/>
            </a:pPr>
            <a:r>
              <a:rPr lang="en-US" sz="3400" b="1" dirty="0"/>
              <a:t>	</a:t>
            </a:r>
            <a:r>
              <a:rPr lang="en-US" sz="3400" b="1" dirty="0" err="1"/>
              <a:t>username.secnKeys</a:t>
            </a:r>
            <a:r>
              <a:rPr lang="en-US" sz="3400" b="1" dirty="0"/>
              <a:t>(“Admin”);</a:t>
            </a:r>
            <a:br>
              <a:rPr lang="en-US" sz="3400" b="1" dirty="0"/>
            </a:br>
            <a:r>
              <a:rPr lang="en-US" sz="3400" b="1" dirty="0"/>
              <a:t>} </a:t>
            </a:r>
          </a:p>
          <a:p>
            <a:pPr marL="615950" lvl="1" indent="0" fontAlgn="base">
              <a:buNone/>
            </a:pPr>
            <a:r>
              <a:rPr lang="en-US" sz="3400" b="1" dirty="0"/>
              <a:t>}</a:t>
            </a:r>
          </a:p>
          <a:p>
            <a:pPr marL="615950" lvl="1" indent="0" fontAlgn="base">
              <a:buNone/>
            </a:pPr>
            <a:r>
              <a:rPr lang="en-IN" sz="3400" b="1" dirty="0"/>
              <a:t>Test Case</a:t>
            </a:r>
          </a:p>
          <a:p>
            <a:pPr marL="615950" lvl="1" indent="0" fontAlgn="base">
              <a:buNone/>
            </a:pPr>
            <a:r>
              <a:rPr lang="fr-FR" sz="3400" b="1" dirty="0" err="1"/>
              <a:t>Using</a:t>
            </a:r>
            <a:r>
              <a:rPr lang="fr-FR" sz="3400" b="1" dirty="0"/>
              <a:t> </a:t>
            </a:r>
            <a:r>
              <a:rPr lang="fr-FR" sz="3400" b="1" dirty="0" err="1"/>
              <a:t>PageFactory</a:t>
            </a:r>
            <a:r>
              <a:rPr lang="fr-FR" sz="3400" b="1" dirty="0"/>
              <a:t> </a:t>
            </a:r>
            <a:r>
              <a:rPr lang="fr-FR" sz="3400" b="1" dirty="0" err="1"/>
              <a:t>within</a:t>
            </a:r>
            <a:r>
              <a:rPr lang="fr-FR" sz="3400" b="1" dirty="0"/>
              <a:t> test</a:t>
            </a:r>
          </a:p>
          <a:p>
            <a:pPr marL="615950" lvl="1" indent="0" fontAlgn="base">
              <a:buNone/>
            </a:pPr>
            <a:r>
              <a:rPr lang="en-US" sz="3400" b="1" dirty="0" err="1"/>
              <a:t>LoginPage</a:t>
            </a:r>
            <a:r>
              <a:rPr lang="en-US" sz="3400" b="1" dirty="0"/>
              <a:t> page = </a:t>
            </a:r>
            <a:r>
              <a:rPr lang="en-US" sz="3400" b="1" dirty="0" err="1"/>
              <a:t>PageFactory.intElements</a:t>
            </a:r>
            <a:r>
              <a:rPr lang="en-US" sz="3400" b="1" dirty="0"/>
              <a:t>(</a:t>
            </a:r>
            <a:r>
              <a:rPr lang="en-US" sz="3400" b="1" dirty="0" err="1"/>
              <a:t>driver,LoginPage.class</a:t>
            </a:r>
            <a:r>
              <a:rPr lang="en-US" sz="3400" b="1" dirty="0"/>
              <a:t>)</a:t>
            </a:r>
          </a:p>
          <a:p>
            <a:pPr marL="615950" lvl="1" indent="0" fontAlgn="base"/>
            <a:endParaRPr lang="en-US" sz="3400" b="1" dirty="0"/>
          </a:p>
          <a:p>
            <a:pPr marL="615950" lvl="1" indent="0" fontAlgn="base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</p:spPr>
        <p:txBody>
          <a:bodyPr/>
          <a:lstStyle/>
          <a:p>
            <a:r>
              <a:rPr lang="en-IN" dirty="0"/>
              <a:t>Steps to Design Framework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610600" cy="5943600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IN" b="1" dirty="0"/>
              <a:t>Step1:SetupProject</a:t>
            </a:r>
            <a:endParaRPr lang="en-US" b="1" dirty="0"/>
          </a:p>
          <a:p>
            <a:pPr>
              <a:buNone/>
            </a:pPr>
            <a:r>
              <a:rPr lang="en-US" dirty="0"/>
              <a:t>1.Create Maven Project</a:t>
            </a:r>
          </a:p>
          <a:p>
            <a:pPr>
              <a:buNone/>
            </a:pPr>
            <a:r>
              <a:rPr lang="en-US" dirty="0"/>
              <a:t>2.Update pom.xml</a:t>
            </a:r>
          </a:p>
          <a:p>
            <a:pPr>
              <a:buNone/>
            </a:pPr>
            <a:r>
              <a:rPr lang="en-IN" dirty="0"/>
              <a:t>3.Create folder structure(</a:t>
            </a:r>
            <a:r>
              <a:rPr lang="en-IN" dirty="0" err="1"/>
              <a:t>reports,screenshot,xmlfile</a:t>
            </a:r>
            <a:r>
              <a:rPr lang="en-IN" dirty="0"/>
              <a:t>, test data, </a:t>
            </a:r>
            <a:r>
              <a:rPr lang="en-IN" dirty="0" err="1"/>
              <a:t>config</a:t>
            </a:r>
            <a:r>
              <a:rPr lang="en-IN" dirty="0"/>
              <a:t>)</a:t>
            </a:r>
          </a:p>
          <a:p>
            <a:pPr>
              <a:buNone/>
            </a:pPr>
            <a:r>
              <a:rPr lang="en-IN" dirty="0"/>
              <a:t>4.Create package(</a:t>
            </a:r>
            <a:r>
              <a:rPr lang="en-IN" dirty="0" err="1"/>
              <a:t>pages,testcases,utility</a:t>
            </a:r>
            <a:r>
              <a:rPr lang="en-IN" dirty="0"/>
              <a:t>)</a:t>
            </a:r>
          </a:p>
          <a:p>
            <a:pPr>
              <a:buNone/>
            </a:pPr>
            <a:r>
              <a:rPr lang="en-IN" b="1" dirty="0"/>
              <a:t>Step2:Create POM and </a:t>
            </a:r>
            <a:r>
              <a:rPr lang="en-IN" b="1" dirty="0" err="1"/>
              <a:t>TestCase</a:t>
            </a:r>
            <a:endParaRPr lang="en-US" b="1" dirty="0"/>
          </a:p>
          <a:p>
            <a:pPr>
              <a:buNone/>
            </a:pPr>
            <a:r>
              <a:rPr lang="en-US" dirty="0"/>
              <a:t>5.Create Page Objects</a:t>
            </a:r>
          </a:p>
          <a:p>
            <a:pPr>
              <a:buNone/>
            </a:pPr>
            <a:r>
              <a:rPr lang="en-US" dirty="0"/>
              <a:t>6.Create Basic Test case</a:t>
            </a:r>
          </a:p>
          <a:p>
            <a:pPr>
              <a:buNone/>
            </a:pPr>
            <a:r>
              <a:rPr lang="en-IN" b="1" dirty="0"/>
              <a:t>Step3:Create </a:t>
            </a:r>
            <a:r>
              <a:rPr lang="en-IN" b="1" dirty="0" err="1"/>
              <a:t>Dataprovider</a:t>
            </a:r>
            <a:r>
              <a:rPr lang="en-IN" b="1" dirty="0"/>
              <a:t> &amp; libraries for the framework</a:t>
            </a:r>
            <a:endParaRPr lang="en-US" b="1" dirty="0"/>
          </a:p>
          <a:p>
            <a:pPr>
              <a:buNone/>
            </a:pPr>
            <a:r>
              <a:rPr lang="en-US" dirty="0"/>
              <a:t>7.Read common values from properties file</a:t>
            </a:r>
          </a:p>
          <a:p>
            <a:pPr>
              <a:buNone/>
            </a:pPr>
            <a:r>
              <a:rPr lang="en-US" dirty="0"/>
              <a:t>8.Create Data Driven test case</a:t>
            </a:r>
          </a:p>
          <a:p>
            <a:pPr>
              <a:buNone/>
            </a:pPr>
            <a:r>
              <a:rPr lang="en-US" dirty="0"/>
              <a:t>9.Run test case on desired browser</a:t>
            </a:r>
          </a:p>
          <a:p>
            <a:pPr>
              <a:buNone/>
            </a:pPr>
            <a:r>
              <a:rPr lang="en-IN" b="1" dirty="0"/>
              <a:t>Step4:Add Reports&amp; logs to framework</a:t>
            </a:r>
            <a:endParaRPr lang="en-US" b="1" dirty="0"/>
          </a:p>
          <a:p>
            <a:pPr>
              <a:buNone/>
            </a:pPr>
            <a:r>
              <a:rPr lang="en-US" dirty="0"/>
              <a:t>10.Add extent report</a:t>
            </a:r>
          </a:p>
          <a:p>
            <a:pPr>
              <a:buNone/>
            </a:pPr>
            <a:r>
              <a:rPr lang="en-IN" b="1" dirty="0"/>
              <a:t>Step5: Execution of Framework</a:t>
            </a:r>
            <a:endParaRPr lang="en-US" b="1" dirty="0"/>
          </a:p>
          <a:p>
            <a:pPr>
              <a:buNone/>
            </a:pPr>
            <a:r>
              <a:rPr lang="en-IN" dirty="0"/>
              <a:t>11.Run Using maven &amp; Jenkins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/>
          <a:lstStyle/>
          <a:p>
            <a:r>
              <a:rPr lang="en-IN" dirty="0"/>
              <a:t>Folder structure</a:t>
            </a:r>
            <a:endParaRPr lang="en-US" dirty="0"/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209800" y="762000"/>
            <a:ext cx="4876800" cy="586740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1027</Words>
  <Application>Microsoft Office PowerPoint</Application>
  <PresentationFormat>On-screen Show (4:3)</PresentationFormat>
  <Paragraphs>131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Wingdings</vt:lpstr>
      <vt:lpstr>Office Theme</vt:lpstr>
      <vt:lpstr>Framework Design</vt:lpstr>
      <vt:lpstr>Agenda</vt:lpstr>
      <vt:lpstr>What is Framework</vt:lpstr>
      <vt:lpstr>Need of Framework</vt:lpstr>
      <vt:lpstr>Benefits of Framework</vt:lpstr>
      <vt:lpstr>Hybrid Driven Framework</vt:lpstr>
      <vt:lpstr>PowerPoint Presentation</vt:lpstr>
      <vt:lpstr>Design Pattern</vt:lpstr>
      <vt:lpstr>Page Object Model </vt:lpstr>
      <vt:lpstr>Page Object Model </vt:lpstr>
      <vt:lpstr>Ways for POM</vt:lpstr>
      <vt:lpstr>PageFactory</vt:lpstr>
      <vt:lpstr>PowerPoint Presentation</vt:lpstr>
      <vt:lpstr>Steps to Design Framework</vt:lpstr>
      <vt:lpstr>Folder structure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Framework</dc:title>
  <dc:creator>Priyanka</dc:creator>
  <cp:lastModifiedBy>ganesh nigade</cp:lastModifiedBy>
  <cp:revision>18</cp:revision>
  <dcterms:created xsi:type="dcterms:W3CDTF">2006-08-16T00:00:00Z</dcterms:created>
  <dcterms:modified xsi:type="dcterms:W3CDTF">2026-07-16T14:16:07Z</dcterms:modified>
</cp:coreProperties>
</file>