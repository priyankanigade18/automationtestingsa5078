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6" r:id="rId1"/>
  </p:sldMasterIdLst>
  <p:notesMasterIdLst>
    <p:notesMasterId r:id="rId72"/>
  </p:notesMasterIdLst>
  <p:sldIdLst>
    <p:sldId id="256" r:id="rId2"/>
    <p:sldId id="486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0" r:id="rId12"/>
    <p:sldId id="271" r:id="rId13"/>
    <p:sldId id="464" r:id="rId14"/>
    <p:sldId id="306" r:id="rId15"/>
    <p:sldId id="307" r:id="rId16"/>
    <p:sldId id="308" r:id="rId17"/>
    <p:sldId id="309" r:id="rId18"/>
    <p:sldId id="480" r:id="rId19"/>
    <p:sldId id="275" r:id="rId20"/>
    <p:sldId id="279" r:id="rId21"/>
    <p:sldId id="280" r:id="rId22"/>
    <p:sldId id="284" r:id="rId23"/>
    <p:sldId id="339" r:id="rId24"/>
    <p:sldId id="340" r:id="rId25"/>
    <p:sldId id="423" r:id="rId26"/>
    <p:sldId id="485" r:id="rId27"/>
    <p:sldId id="462" r:id="rId28"/>
    <p:sldId id="426" r:id="rId29"/>
    <p:sldId id="448" r:id="rId30"/>
    <p:sldId id="447" r:id="rId31"/>
    <p:sldId id="342" r:id="rId32"/>
    <p:sldId id="453" r:id="rId33"/>
    <p:sldId id="343" r:id="rId34"/>
    <p:sldId id="344" r:id="rId35"/>
    <p:sldId id="345" r:id="rId36"/>
    <p:sldId id="481" r:id="rId37"/>
    <p:sldId id="346" r:id="rId38"/>
    <p:sldId id="347" r:id="rId39"/>
    <p:sldId id="456" r:id="rId40"/>
    <p:sldId id="350" r:id="rId41"/>
    <p:sldId id="457" r:id="rId42"/>
    <p:sldId id="482" r:id="rId43"/>
    <p:sldId id="295" r:id="rId44"/>
    <p:sldId id="296" r:id="rId45"/>
    <p:sldId id="465" r:id="rId46"/>
    <p:sldId id="467" r:id="rId47"/>
    <p:sldId id="298" r:id="rId48"/>
    <p:sldId id="292" r:id="rId49"/>
    <p:sldId id="293" r:id="rId50"/>
    <p:sldId id="299" r:id="rId51"/>
    <p:sldId id="300" r:id="rId52"/>
    <p:sldId id="301" r:id="rId53"/>
    <p:sldId id="302" r:id="rId54"/>
    <p:sldId id="303" r:id="rId55"/>
    <p:sldId id="353" r:id="rId56"/>
    <p:sldId id="354" r:id="rId57"/>
    <p:sldId id="410" r:id="rId58"/>
    <p:sldId id="361" r:id="rId59"/>
    <p:sldId id="362" r:id="rId60"/>
    <p:sldId id="364" r:id="rId61"/>
    <p:sldId id="428" r:id="rId62"/>
    <p:sldId id="429" r:id="rId63"/>
    <p:sldId id="365" r:id="rId64"/>
    <p:sldId id="366" r:id="rId65"/>
    <p:sldId id="469" r:id="rId66"/>
    <p:sldId id="470" r:id="rId67"/>
    <p:sldId id="471" r:id="rId68"/>
    <p:sldId id="474" r:id="rId69"/>
    <p:sldId id="483" r:id="rId70"/>
    <p:sldId id="41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2C9222-CFD5-4C15-BFDA-2D32F67D31E7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DDD2-495B-4E9A-8FA5-21491EADE6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98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1256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0836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88" name="Google Shape;2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4685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294" name="Google Shape;29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37932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6"/>
          <p:cNvSpPr txBox="1">
            <a:spLocks noChangeArrowheads="1"/>
          </p:cNvSpPr>
          <p:nvPr/>
        </p:nvSpPr>
        <p:spPr bwMode="auto">
          <a:xfrm>
            <a:off x="3881208" y="8686460"/>
            <a:ext cx="2976792" cy="45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 defTabSz="400827"/>
            <a:fld id="{82A21822-92DF-4885-9007-D8A623B8ACE0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  <a:ea typeface="Andale Sans UI"/>
                <a:cs typeface="Andale Sans UI"/>
              </a:rPr>
              <a:pPr algn="r" defTabSz="400827"/>
              <a:t>19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  <a:ea typeface="Andale Sans UI"/>
              <a:cs typeface="Andale Sans UI"/>
            </a:endParaRPr>
          </a:p>
        </p:txBody>
      </p:sp>
      <p:sp>
        <p:nvSpPr>
          <p:cNvPr id="3072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5B9BD5"/>
          </a:solidFill>
          <a:ln w="25402">
            <a:solidFill>
              <a:srgbClr val="41719C"/>
            </a:solidFill>
          </a:ln>
        </p:spPr>
      </p:sp>
      <p:sp>
        <p:nvSpPr>
          <p:cNvPr id="30724" name="Notes Placeholder 2"/>
          <p:cNvSpPr txBox="1">
            <a:spLocks noGrp="1"/>
          </p:cNvSpPr>
          <p:nvPr>
            <p:ph type="body" sz="quarter" idx="1"/>
          </p:nvPr>
        </p:nvSpPr>
        <p:spPr bwMode="auto">
          <a:noFill/>
        </p:spPr>
        <p:txBody>
          <a:bodyPr numCol="1">
            <a:prstTxWarp prst="textNoShape">
              <a:avLst/>
            </a:prstTxWarp>
          </a:bodyPr>
          <a:lstStyle/>
          <a:p>
            <a:pPr eaLnBrk="1"/>
            <a:endParaRPr lang="en-US" altLang="en-US">
              <a:latin typeface="Arial" pitchFamily="34" charset="0"/>
              <a:cs typeface="Tahoma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6"/>
          <p:cNvSpPr txBox="1">
            <a:spLocks noChangeArrowheads="1"/>
          </p:cNvSpPr>
          <p:nvPr/>
        </p:nvSpPr>
        <p:spPr bwMode="auto">
          <a:xfrm>
            <a:off x="3881208" y="8686460"/>
            <a:ext cx="2976792" cy="45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 defTabSz="400827"/>
            <a:fld id="{8AF2F15D-030C-41D3-A028-C40A1A6A9C26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  <a:ea typeface="Andale Sans UI"/>
                <a:cs typeface="Andale Sans UI"/>
              </a:rPr>
              <a:pPr algn="r" defTabSz="400827"/>
              <a:t>20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  <a:ea typeface="Andale Sans UI"/>
              <a:cs typeface="Andale Sans UI"/>
            </a:endParaRPr>
          </a:p>
        </p:txBody>
      </p:sp>
      <p:sp>
        <p:nvSpPr>
          <p:cNvPr id="3481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5B9BD5"/>
          </a:solidFill>
          <a:ln w="25402">
            <a:solidFill>
              <a:srgbClr val="41719C"/>
            </a:solidFill>
          </a:ln>
        </p:spPr>
      </p:sp>
      <p:sp>
        <p:nvSpPr>
          <p:cNvPr id="34820" name="Notes Placeholder 2"/>
          <p:cNvSpPr txBox="1">
            <a:spLocks noGrp="1"/>
          </p:cNvSpPr>
          <p:nvPr>
            <p:ph type="body" sz="quarter" idx="1"/>
          </p:nvPr>
        </p:nvSpPr>
        <p:spPr bwMode="auto">
          <a:noFill/>
        </p:spPr>
        <p:txBody>
          <a:bodyPr numCol="1">
            <a:prstTxWarp prst="textNoShape">
              <a:avLst/>
            </a:prstTxWarp>
          </a:bodyPr>
          <a:lstStyle/>
          <a:p>
            <a:pPr eaLnBrk="1"/>
            <a:endParaRPr lang="en-US" altLang="en-US">
              <a:latin typeface="Arial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18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/>
          <p:cNvSpPr txBox="1">
            <a:spLocks noChangeArrowheads="1"/>
          </p:cNvSpPr>
          <p:nvPr/>
        </p:nvSpPr>
        <p:spPr bwMode="auto">
          <a:xfrm>
            <a:off x="3881208" y="8686460"/>
            <a:ext cx="2976792" cy="45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b"/>
          <a:lstStyle/>
          <a:p>
            <a:pPr algn="r" defTabSz="400827"/>
            <a:fld id="{16F95308-844E-4C41-9B8C-A0D5403A5210}" type="slidenum">
              <a:rPr lang="en-US" altLang="en-US" sz="1200">
                <a:solidFill>
                  <a:srgbClr val="000000"/>
                </a:solidFill>
                <a:latin typeface="Times New Roman" pitchFamily="18" charset="0"/>
                <a:ea typeface="Andale Sans UI"/>
                <a:cs typeface="Andale Sans UI"/>
              </a:rPr>
              <a:pPr algn="r" defTabSz="400827"/>
              <a:t>22</a:t>
            </a:fld>
            <a:endParaRPr lang="en-US" altLang="en-US" sz="1200" dirty="0">
              <a:solidFill>
                <a:srgbClr val="000000"/>
              </a:solidFill>
              <a:latin typeface="Times New Roman" pitchFamily="18" charset="0"/>
              <a:ea typeface="Andale Sans UI"/>
              <a:cs typeface="Andale Sans UI"/>
            </a:endParaRPr>
          </a:p>
        </p:txBody>
      </p:sp>
      <p:sp>
        <p:nvSpPr>
          <p:cNvPr id="3584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solidFill>
            <a:srgbClr val="5B9BD5"/>
          </a:solidFill>
          <a:ln w="25402">
            <a:solidFill>
              <a:srgbClr val="41719C"/>
            </a:solidFill>
          </a:ln>
        </p:spPr>
      </p:sp>
      <p:sp>
        <p:nvSpPr>
          <p:cNvPr id="35844" name="Notes Placeholder 2"/>
          <p:cNvSpPr txBox="1">
            <a:spLocks noGrp="1"/>
          </p:cNvSpPr>
          <p:nvPr>
            <p:ph type="body" sz="quarter" idx="1"/>
          </p:nvPr>
        </p:nvSpPr>
        <p:spPr bwMode="auto">
          <a:noFill/>
        </p:spPr>
        <p:txBody>
          <a:bodyPr numCol="1">
            <a:prstTxWarp prst="textNoShape">
              <a:avLst/>
            </a:prstTxWarp>
          </a:bodyPr>
          <a:lstStyle/>
          <a:p>
            <a:pPr eaLnBrk="1"/>
            <a:endParaRPr lang="en-US" altLang="en-US">
              <a:latin typeface="Arial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050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77E8E-B6A6-4DEC-87C0-DB06C23566F4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15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92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18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14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0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399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5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162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3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7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47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45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5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794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187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765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7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79C6D9-CF0A-4D11-B746-C51D0D8735A2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4EC7987-0BC0-42F6-A8C9-758D26FA2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44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1" r:id="rId5"/>
    <p:sldLayoutId id="2147484202" r:id="rId6"/>
    <p:sldLayoutId id="2147484203" r:id="rId7"/>
    <p:sldLayoutId id="2147484204" r:id="rId8"/>
    <p:sldLayoutId id="2147484205" r:id="rId9"/>
    <p:sldLayoutId id="2147484206" r:id="rId10"/>
    <p:sldLayoutId id="2147484207" r:id="rId11"/>
    <p:sldLayoutId id="2147484208" r:id="rId12"/>
    <p:sldLayoutId id="2147484209" r:id="rId13"/>
    <p:sldLayoutId id="2147484210" r:id="rId14"/>
    <p:sldLayoutId id="2147484211" r:id="rId15"/>
    <p:sldLayoutId id="2147484212" r:id="rId16"/>
    <p:sldLayoutId id="21474842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the-internet.herokuapp.com/javascript_alerts" TargetMode="External"/><Relationship Id="rId2" Type="http://schemas.openxmlformats.org/officeDocument/2006/relationships/hyperlink" Target="https://mail.rediff.com/cgi-bin/login.cg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elenium.dev/documentation/en/webdriver/js_alerts_prompts_and_confirmations/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lenium.dev/selenium/docs/api/java/overview-summary.html" TargetMode="External"/><Relationship Id="rId2" Type="http://schemas.openxmlformats.org/officeDocument/2006/relationships/hyperlink" Target="https://the-internet.herokuapp.com/ifra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he-internet.herokuapp.com/nested_frames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://demo.guru99.com/test/simple_context_menu.html" TargetMode="External"/><Relationship Id="rId2" Type="http://schemas.openxmlformats.org/officeDocument/2006/relationships/hyperlink" Target="https://the-internet.herokuapp.com/context_menu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api.jquery.com/dblclick/" TargetMode="External"/><Relationship Id="rId4" Type="http://schemas.openxmlformats.org/officeDocument/2006/relationships/hyperlink" Target="http://swisnl.github.io/jQuery%20contextMenu/demo.html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jqueryui.com/droppable/#default" TargetMode="External"/><Relationship Id="rId2" Type="http://schemas.openxmlformats.org/officeDocument/2006/relationships/hyperlink" Target="http://www.dhtmlgoodies.com/scripts/drag%20drop%20custom/demo%20drag%20drop%203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jqueryui.com/resizable/" TargetMode="External"/><Relationship Id="rId2" Type="http://schemas.openxmlformats.org/officeDocument/2006/relationships/hyperlink" Target="https://jqueryui.com/slid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queryui.com/tooltip/" TargetMode="Externa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pazone/ashot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resource.com/java-tutorial" TargetMode="External"/><Relationship Id="rId2" Type="http://schemas.openxmlformats.org/officeDocument/2006/relationships/hyperlink" Target="https://www.selenium.dev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6C4A-3273-0F0B-60A5-12613014F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40909"/>
            <a:ext cx="8689976" cy="278809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Java-Selenium</a:t>
            </a:r>
            <a:br>
              <a:rPr lang="en-IN" b="1" dirty="0"/>
            </a:br>
            <a:r>
              <a:rPr lang="en-IN" b="1" dirty="0"/>
              <a:t> Basic </a:t>
            </a:r>
            <a:r>
              <a:rPr lang="en-IN" b="1"/>
              <a:t>to Advanced </a:t>
            </a:r>
            <a:r>
              <a:rPr lang="en-IN" b="1" dirty="0"/>
              <a:t>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06E9E-37E7-0E2E-BDE3-7B4CA14AD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66356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1D513-3717-2668-4E29-B0374E1C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39" y="5774"/>
            <a:ext cx="10364451" cy="1596177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About trainer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85195-C411-C321-16C1-A50139BB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252" y="1291472"/>
            <a:ext cx="9600256" cy="5325638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15+ years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Experience.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ISTQB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Certified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Full time software testing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Manual &amp; Automation Trainer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Conducted trainings for multiple corporates.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Trained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5000+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professionals.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You tube channel “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AutomationWithPriyanka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For Client :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HCL, Atos Syntel, Capgemini, Thales-group, RedBus,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StarAgile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Devlabs,Seed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Infotech,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Mindscript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KotakSoftware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..etc.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112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D973-2EAC-56F3-650A-AE4C7542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443" y="169387"/>
            <a:ext cx="10364451" cy="1068881"/>
          </a:xfrm>
        </p:spPr>
        <p:txBody>
          <a:bodyPr>
            <a:normAutofit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Training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3DBE06-5146-7905-6235-1A7F7CAE9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9950" y="3434358"/>
            <a:ext cx="4513195" cy="3387890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45C529-7510-A954-5DCA-3048F3481E4C}"/>
              </a:ext>
            </a:extLst>
          </p:cNvPr>
          <p:cNvSpPr/>
          <p:nvPr/>
        </p:nvSpPr>
        <p:spPr>
          <a:xfrm>
            <a:off x="2656117" y="4522131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Basics of Automation Testing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776B7C-FB47-F813-31AA-8D031B4DDA10}"/>
              </a:ext>
            </a:extLst>
          </p:cNvPr>
          <p:cNvSpPr/>
          <p:nvPr/>
        </p:nvSpPr>
        <p:spPr>
          <a:xfrm>
            <a:off x="3908083" y="3205774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Selenium Introduction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BEB4F1-5B10-8F63-B4A6-A3C2BFE961F4}"/>
              </a:ext>
            </a:extLst>
          </p:cNvPr>
          <p:cNvSpPr/>
          <p:nvPr/>
        </p:nvSpPr>
        <p:spPr>
          <a:xfrm>
            <a:off x="1059550" y="5753367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Java Programming Overview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9D99A6-F076-460A-E693-DC0EEFBC2417}"/>
              </a:ext>
            </a:extLst>
          </p:cNvPr>
          <p:cNvSpPr/>
          <p:nvPr/>
        </p:nvSpPr>
        <p:spPr>
          <a:xfrm>
            <a:off x="5206735" y="1826104"/>
            <a:ext cx="3751867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/>
              <a:t>Selenium WebDriver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F5FE0C3-2B34-D7AE-44C9-CBD761E46A9F}"/>
              </a:ext>
            </a:extLst>
          </p:cNvPr>
          <p:cNvSpPr/>
          <p:nvPr/>
        </p:nvSpPr>
        <p:spPr>
          <a:xfrm>
            <a:off x="7572158" y="480176"/>
            <a:ext cx="4336329" cy="1068881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 err="1"/>
              <a:t>Fameworks</a:t>
            </a:r>
            <a:endParaRPr lang="en-IN" sz="2800" dirty="0"/>
          </a:p>
          <a:p>
            <a:pPr algn="ctr"/>
            <a:r>
              <a:rPr lang="en-IN" sz="2800" dirty="0" err="1"/>
              <a:t>TestNG,Maven,Cucumber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522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b="1" dirty="0">
                <a:latin typeface="+mn-lt"/>
              </a:rPr>
              <a:t>Automation Basics</a:t>
            </a:r>
            <a:endParaRPr lang="en-US" sz="66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"/>
            <a:ext cx="9144000" cy="129653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Manual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2556" y="1574276"/>
            <a:ext cx="9502219" cy="5175316"/>
          </a:xfrm>
        </p:spPr>
        <p:txBody>
          <a:bodyPr anchor="t">
            <a:normAutofit/>
          </a:bodyPr>
          <a:lstStyle/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testing is process of manually testing software application with the intension of finding defects.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945" y="1070296"/>
            <a:ext cx="6049652" cy="22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0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631" y="443062"/>
            <a:ext cx="10642861" cy="115949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When is Manual Testing Good Idea?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609" y="1762811"/>
            <a:ext cx="8664962" cy="4801761"/>
          </a:xfrm>
        </p:spPr>
        <p:txBody>
          <a:bodyPr anchor="t"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Subjective Validation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New/Changing Functionality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Strategic Development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Complex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486208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"/>
            <a:ext cx="9144000" cy="1228299"/>
          </a:xfrm>
        </p:spPr>
        <p:txBody>
          <a:bodyPr>
            <a:noAutofit/>
          </a:bodyPr>
          <a:lstStyle/>
          <a:p>
            <a:r>
              <a:rPr lang="en-US" b="1" dirty="0">
                <a:latin typeface="Century Schoolbook" panose="02040604050505020304" pitchFamily="18" charset="0"/>
              </a:rPr>
              <a:t>Manual Testing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740" y="1228301"/>
            <a:ext cx="9012716" cy="5114499"/>
          </a:xfrm>
        </p:spPr>
        <p:txBody>
          <a:bodyPr anchor="t"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Manual testing is traditional form of testing.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Repetitive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Reliable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Reusable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 more resource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Costly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More time &amp; efforts</a:t>
            </a:r>
          </a:p>
          <a:p>
            <a:pPr lvl="1"/>
            <a:endParaRPr lang="en-US" sz="24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807" y="1888530"/>
            <a:ext cx="5981550" cy="3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9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9" y="1"/>
            <a:ext cx="9038230" cy="126924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Automation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8" y="2092751"/>
            <a:ext cx="10457469" cy="3384222"/>
          </a:xfrm>
        </p:spPr>
        <p:txBody>
          <a:bodyPr anchor="t">
            <a:normAutofit/>
          </a:bodyPr>
          <a:lstStyle/>
          <a:p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Automation testing is process of testing software application with the help of tool to find out defects from the application.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706" y="1687399"/>
            <a:ext cx="5550815" cy="186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3121"/>
            <a:ext cx="9144000" cy="116976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Need For Automation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9" y="1282891"/>
            <a:ext cx="9797593" cy="5104264"/>
          </a:xfrm>
        </p:spPr>
        <p:txBody>
          <a:bodyPr anchor="t"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organization has unique reasons for automating software quality activities, but several reasons common across industries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Speed (fast to execute but except initial time)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Reliable 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Repeatable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Saves time 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Coverage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Reusable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Cost effective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programmable</a:t>
            </a:r>
          </a:p>
        </p:txBody>
      </p:sp>
    </p:spTree>
    <p:extLst>
      <p:ext uri="{BB962C8B-B14F-4D97-AF65-F5344CB8AC3E}">
        <p14:creationId xmlns:p14="http://schemas.microsoft.com/office/powerpoint/2010/main" val="1859798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351" y="2"/>
            <a:ext cx="10190375" cy="120100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When To Automate Application?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7490" y="1368190"/>
            <a:ext cx="9581452" cy="5146911"/>
          </a:xfrm>
        </p:spPr>
        <p:txBody>
          <a:bodyPr anchor="t">
            <a:normAutofit/>
          </a:bodyPr>
          <a:lstStyle/>
          <a:p>
            <a:pPr algn="just" fontAlgn="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Requirements do not change frequently.</a:t>
            </a:r>
          </a:p>
          <a:p>
            <a:pPr algn="just" fontAlgn="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Projects that need to test the same areas often.</a:t>
            </a:r>
          </a:p>
          <a:p>
            <a:pPr algn="just" fontAlgn="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manual testing process in place as per expected results and tested twice manually.</a:t>
            </a:r>
          </a:p>
          <a:p>
            <a:pPr algn="just" fontAlgn="t"/>
            <a:endParaRPr lang="en-US" sz="28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  <a:p>
            <a:pPr algn="just"/>
            <a:endParaRPr lang="en-US" sz="2600" dirty="0">
              <a:solidFill>
                <a:schemeClr val="accent1">
                  <a:lumMod val="75000"/>
                </a:schemeClr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66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9144000" cy="1371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Types Of Automation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462" y="1371604"/>
            <a:ext cx="8803230" cy="1597840"/>
          </a:xfrm>
        </p:spPr>
        <p:txBody>
          <a:bodyPr anchor="t"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Functional Automated Tests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 Functional Automated Tests </a:t>
            </a:r>
          </a:p>
        </p:txBody>
      </p:sp>
    </p:spTree>
    <p:extLst>
      <p:ext uri="{BB962C8B-B14F-4D97-AF65-F5344CB8AC3E}">
        <p14:creationId xmlns:p14="http://schemas.microsoft.com/office/powerpoint/2010/main" val="255729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09" y="1"/>
            <a:ext cx="10727703" cy="1255594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Selection Of Automation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9118" y="1450074"/>
            <a:ext cx="10030119" cy="5059908"/>
          </a:xfrm>
        </p:spPr>
        <p:txBody>
          <a:bodyPr anchor="t"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First, Identify the requirements, explore various tools and its capabilities, set the expectation from the tool and go for a Proof Of Concept.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Tool should be compatible as per checklist.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to learn and technical support should be available.</a:t>
            </a:r>
          </a:p>
        </p:txBody>
      </p:sp>
    </p:spTree>
    <p:extLst>
      <p:ext uri="{BB962C8B-B14F-4D97-AF65-F5344CB8AC3E}">
        <p14:creationId xmlns:p14="http://schemas.microsoft.com/office/powerpoint/2010/main" val="1786471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04" y="1"/>
            <a:ext cx="9132396" cy="102358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entury Schoolbook" panose="02040604050505020304" pitchFamily="18" charset="0"/>
              </a:rPr>
              <a:t>What is selenium…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9" y="1310325"/>
            <a:ext cx="10184091" cy="5081047"/>
          </a:xfrm>
        </p:spPr>
        <p:txBody>
          <a:bodyPr anchor="t"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Selenium is an open source Browser based test Automation.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Selenium is a suite of tools to automate web application testing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Works by simulating users action such as mouse click and key pressed.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Works anywhere JavaScript is supported.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Runs in many browser and operating systems.(IE,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MozillaFirefox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Safari, Google Chrome and Opera…/Windows, Linux, Mac..)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controlled by many programming languages and testing frameworks.</a:t>
            </a:r>
          </a:p>
          <a:p>
            <a:pPr marL="285750"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(HTML,PHP,C#,Java,Ruby,Python..etc.)</a:t>
            </a:r>
          </a:p>
        </p:txBody>
      </p:sp>
    </p:spTree>
    <p:extLst>
      <p:ext uri="{BB962C8B-B14F-4D97-AF65-F5344CB8AC3E}">
        <p14:creationId xmlns:p14="http://schemas.microsoft.com/office/powerpoint/2010/main" val="332281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"/>
          <p:cNvSpPr txBox="1">
            <a:spLocks noGrp="1"/>
          </p:cNvSpPr>
          <p:nvPr>
            <p:ph type="title"/>
          </p:nvPr>
        </p:nvSpPr>
        <p:spPr>
          <a:xfrm>
            <a:off x="2152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000" b="1" dirty="0">
                <a:latin typeface="Century Schoolbook" panose="02040604050505020304" pitchFamily="18" charset="0"/>
                <a:sym typeface="Calibri"/>
              </a:rPr>
              <a:t>Selenium Phases</a:t>
            </a:r>
          </a:p>
        </p:txBody>
      </p:sp>
      <p:sp>
        <p:nvSpPr>
          <p:cNvPr id="265" name="Google Shape;265;p15"/>
          <p:cNvSpPr txBox="1">
            <a:spLocks noGrp="1"/>
          </p:cNvSpPr>
          <p:nvPr>
            <p:ph idx="1"/>
          </p:nvPr>
        </p:nvSpPr>
        <p:spPr>
          <a:xfrm>
            <a:off x="2152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endParaRPr/>
          </a:p>
        </p:txBody>
      </p:sp>
      <p:grpSp>
        <p:nvGrpSpPr>
          <p:cNvPr id="2" name="Google Shape;266;p15"/>
          <p:cNvGrpSpPr/>
          <p:nvPr/>
        </p:nvGrpSpPr>
        <p:grpSpPr>
          <a:xfrm>
            <a:off x="2271859" y="1027908"/>
            <a:ext cx="7508236" cy="5345985"/>
            <a:chOff x="0" y="149018"/>
            <a:chExt cx="8498672" cy="5289025"/>
          </a:xfrm>
        </p:grpSpPr>
        <p:sp>
          <p:nvSpPr>
            <p:cNvPr id="267" name="Google Shape;267;p15"/>
            <p:cNvSpPr/>
            <p:nvPr/>
          </p:nvSpPr>
          <p:spPr>
            <a:xfrm>
              <a:off x="0" y="149018"/>
              <a:ext cx="8128000" cy="507999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solidFill>
              <a:srgbClr val="CFDEE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800608" y="3926506"/>
              <a:ext cx="186944" cy="186944"/>
            </a:xfrm>
            <a:prstGeom prst="ellipse">
              <a:avLst/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57045" y="4019978"/>
              <a:ext cx="2663956" cy="1209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0" name="Google Shape;270;p15"/>
            <p:cNvSpPr txBox="1"/>
            <p:nvPr/>
          </p:nvSpPr>
          <p:spPr>
            <a:xfrm>
              <a:off x="691557" y="4114802"/>
              <a:ext cx="2663956" cy="12090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500"/>
              </a:pPr>
              <a:r>
                <a:rPr lang="en-US" sz="2500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Seleni</a:t>
              </a:r>
              <a:r>
                <a:rPr lang="en-IN" sz="25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um 1</a:t>
              </a:r>
              <a:endParaRPr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2121408" y="2744898"/>
              <a:ext cx="325120" cy="325120"/>
            </a:xfrm>
            <a:prstGeom prst="ellipse">
              <a:avLst/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2283968" y="2907458"/>
              <a:ext cx="1706880" cy="23215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3" name="Google Shape;273;p15"/>
            <p:cNvSpPr txBox="1"/>
            <p:nvPr/>
          </p:nvSpPr>
          <p:spPr>
            <a:xfrm>
              <a:off x="2283967" y="2907458"/>
              <a:ext cx="2193549" cy="23215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225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500"/>
              </a:pPr>
              <a:r>
                <a:rPr lang="en-US" sz="25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Selenium2</a:t>
              </a:r>
              <a:endParaRPr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3807968" y="1874186"/>
              <a:ext cx="430784" cy="430784"/>
            </a:xfrm>
            <a:prstGeom prst="ellipse">
              <a:avLst/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4064000" y="2279227"/>
              <a:ext cx="3860791" cy="313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6" name="Google Shape;276;p15"/>
            <p:cNvSpPr txBox="1"/>
            <p:nvPr/>
          </p:nvSpPr>
          <p:spPr>
            <a:xfrm>
              <a:off x="4003044" y="2194090"/>
              <a:ext cx="3860791" cy="313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25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500"/>
              </a:pPr>
              <a:r>
                <a:rPr lang="en-US" sz="25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Selenium 3 </a:t>
              </a:r>
              <a:endParaRPr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5"/>
            <p:cNvSpPr/>
            <p:nvPr/>
          </p:nvSpPr>
          <p:spPr>
            <a:xfrm>
              <a:off x="5644896" y="1298114"/>
              <a:ext cx="577088" cy="577088"/>
            </a:xfrm>
            <a:prstGeom prst="ellipse">
              <a:avLst/>
            </a:prstGeom>
            <a:gradFill>
              <a:gsLst>
                <a:gs pos="0">
                  <a:srgbClr val="469CE7"/>
                </a:gs>
                <a:gs pos="100000">
                  <a:srgbClr val="8ECDFF"/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5496554" y="1419819"/>
              <a:ext cx="2631445" cy="3723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79" name="Google Shape;279;p15"/>
            <p:cNvSpPr txBox="1"/>
            <p:nvPr/>
          </p:nvSpPr>
          <p:spPr>
            <a:xfrm>
              <a:off x="5867227" y="1714422"/>
              <a:ext cx="2631445" cy="37236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5775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rgbClr val="000000"/>
                </a:buClr>
                <a:buSzPts val="2500"/>
              </a:pPr>
              <a:r>
                <a:rPr lang="en-US" sz="25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Selenium 4</a:t>
              </a:r>
              <a:endParaRPr sz="25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>
            <a:spLocks noGrp="1"/>
          </p:cNvSpPr>
          <p:nvPr>
            <p:ph type="title"/>
          </p:nvPr>
        </p:nvSpPr>
        <p:spPr>
          <a:xfrm>
            <a:off x="2152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000" b="1" dirty="0">
                <a:latin typeface="Century Schoolbook" panose="02040604050505020304" pitchFamily="18" charset="0"/>
                <a:sym typeface="Calibri"/>
              </a:rPr>
              <a:t>Selenium Benefits</a:t>
            </a:r>
          </a:p>
        </p:txBody>
      </p:sp>
      <p:sp>
        <p:nvSpPr>
          <p:cNvPr id="285" name="Google Shape;285;p16"/>
          <p:cNvSpPr txBox="1">
            <a:spLocks noGrp="1"/>
          </p:cNvSpPr>
          <p:nvPr>
            <p:ph idx="1"/>
          </p:nvPr>
        </p:nvSpPr>
        <p:spPr>
          <a:xfrm>
            <a:off x="1611984" y="1690690"/>
            <a:ext cx="8427366" cy="448627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Open Source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Cross platform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Cross browser support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Remote execution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Parallel execution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Integration with multiple tools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And many more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"/>
          <p:cNvSpPr txBox="1">
            <a:spLocks noGrp="1"/>
          </p:cNvSpPr>
          <p:nvPr>
            <p:ph type="title"/>
          </p:nvPr>
        </p:nvSpPr>
        <p:spPr>
          <a:xfrm>
            <a:off x="2152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l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4000" b="1" dirty="0">
                <a:latin typeface="Century Schoolbook" panose="02040604050505020304" pitchFamily="18" charset="0"/>
                <a:sym typeface="Calibri"/>
              </a:rPr>
              <a:t>Limitations	</a:t>
            </a:r>
          </a:p>
        </p:txBody>
      </p:sp>
      <p:sp>
        <p:nvSpPr>
          <p:cNvPr id="291" name="Google Shape;291;p17"/>
          <p:cNvSpPr txBox="1">
            <a:spLocks noGrp="1"/>
          </p:cNvSpPr>
          <p:nvPr>
            <p:ph idx="1"/>
          </p:nvPr>
        </p:nvSpPr>
        <p:spPr>
          <a:xfrm>
            <a:off x="1611983" y="1593130"/>
            <a:ext cx="9040305" cy="45838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Can not automate windows applications</a:t>
            </a: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We can not read images</a:t>
            </a: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Bar code, Graphs, pie charts, OTP can not be automated</a:t>
            </a:r>
          </a:p>
          <a:p>
            <a:pPr marL="0" indent="0">
              <a:lnSpc>
                <a:spcPct val="90000"/>
              </a:lnSpc>
              <a:buClr>
                <a:schemeClr val="dk1"/>
              </a:buClr>
              <a:buSzPts val="2800"/>
              <a:buNone/>
            </a:pPr>
            <a:endParaRPr sz="280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8"/>
          <p:cNvSpPr txBox="1">
            <a:spLocks noGrp="1"/>
          </p:cNvSpPr>
          <p:nvPr>
            <p:ph type="title"/>
          </p:nvPr>
        </p:nvSpPr>
        <p:spPr>
          <a:xfrm>
            <a:off x="2133600" y="38100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>
              <a:buClr>
                <a:schemeClr val="dk1"/>
              </a:buClr>
              <a:buSzPts val="4400"/>
            </a:pPr>
            <a:r>
              <a:rPr lang="en-US" sz="4000" b="1" dirty="0">
                <a:latin typeface="Century Schoolbook" panose="02040604050505020304" pitchFamily="18" charset="0"/>
                <a:sym typeface="Calibri"/>
              </a:rPr>
              <a:t>We can use Selenium </a:t>
            </a:r>
            <a:endParaRPr lang="en-IN" sz="4000" b="1" dirty="0">
              <a:latin typeface="Century Schoolbook" panose="02040604050505020304" pitchFamily="18" charset="0"/>
            </a:endParaRPr>
          </a:p>
        </p:txBody>
      </p:sp>
      <p:sp>
        <p:nvSpPr>
          <p:cNvPr id="297" name="Google Shape;297;p18"/>
          <p:cNvSpPr txBox="1">
            <a:spLocks noGrp="1"/>
          </p:cNvSpPr>
          <p:nvPr>
            <p:ph idx="1"/>
          </p:nvPr>
        </p:nvSpPr>
        <p:spPr>
          <a:xfrm>
            <a:off x="2133600" y="1291472"/>
            <a:ext cx="8480980" cy="48854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algn="just">
              <a:lnSpc>
                <a:spcPct val="90000"/>
              </a:lnSpc>
            </a:pPr>
            <a:r>
              <a:rPr lang="en-US" sz="2800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Functional testing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Smoke test scenario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Regression test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End to End Scenario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dk1"/>
              </a:buClr>
              <a:buSzPts val="2800"/>
              <a:buNone/>
            </a:pPr>
            <a:endParaRPr sz="2800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6605F-2438-4614-8BDF-C76EBF95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Selenium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884A-CDF8-C526-2541-94FB75591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113" y="1895753"/>
            <a:ext cx="8073114" cy="342410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Selnium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ide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Selenium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Rc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(deprecated)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Selenium WebDriver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Selenium grid</a:t>
            </a:r>
          </a:p>
        </p:txBody>
      </p:sp>
    </p:spTree>
    <p:extLst>
      <p:ext uri="{BB962C8B-B14F-4D97-AF65-F5344CB8AC3E}">
        <p14:creationId xmlns:p14="http://schemas.microsoft.com/office/powerpoint/2010/main" val="52783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 txBox="1">
            <a:spLocks noGrp="1"/>
          </p:cNvSpPr>
          <p:nvPr>
            <p:ph type="title" idx="4294967295"/>
          </p:nvPr>
        </p:nvSpPr>
        <p:spPr>
          <a:xfrm>
            <a:off x="1826400" y="1"/>
            <a:ext cx="8308200" cy="1219199"/>
          </a:xfrm>
        </p:spPr>
        <p:txBody>
          <a:bodyPr>
            <a:noAutofit/>
          </a:bodyPr>
          <a:lstStyle/>
          <a:p>
            <a:r>
              <a:rPr lang="en-US" altLang="en-US" b="1" dirty="0">
                <a:latin typeface="Century Schoolbook" panose="02040604050505020304" pitchFamily="18" charset="0"/>
              </a:rPr>
              <a:t>Selenium IDE</a:t>
            </a:r>
          </a:p>
        </p:txBody>
      </p:sp>
      <p:sp>
        <p:nvSpPr>
          <p:cNvPr id="9219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826400" y="1081548"/>
            <a:ext cx="9362709" cy="55478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Integrated Development Environment for building Selenium test cases. </a:t>
            </a:r>
          </a:p>
          <a:p>
            <a:pPr algn="just"/>
            <a:r>
              <a:rPr lang="en-US" dirty="0"/>
              <a:t>Operates as a Firefox add-on and provides an interface for developing and running individual test cases or entire test suites. </a:t>
            </a:r>
          </a:p>
          <a:p>
            <a:pPr algn="just"/>
            <a:r>
              <a:rPr lang="en-US" dirty="0"/>
              <a:t>Selenium-IDE has a recording feature, which will keep account of user actions as they are performed and store them as a reusable script to play back. </a:t>
            </a:r>
          </a:p>
          <a:p>
            <a:pPr algn="just" eaLnBrk="1" hangingPunct="1">
              <a:buSzPct val="45000"/>
              <a:buFont typeface="Wingdings" pitchFamily="2" charset="2"/>
              <a:buChar char="Ø"/>
            </a:pPr>
            <a:r>
              <a:rPr altLang="en-US" dirty="0">
                <a:cs typeface="Arial" pitchFamily="34" charset="0"/>
              </a:rPr>
              <a:t>Default source code language is HTML but it can changed to a programming language such as Java or C# or Python.</a:t>
            </a:r>
          </a:p>
          <a:p>
            <a:pPr algn="just" eaLnBrk="1" hangingPunct="1">
              <a:buSzPct val="45000"/>
              <a:buFont typeface="Wingdings" pitchFamily="2" charset="2"/>
              <a:buChar char="Ø"/>
            </a:pPr>
            <a:r>
              <a:rPr lang="en-IN" altLang="en-US" dirty="0">
                <a:cs typeface="Arial" pitchFamily="34" charset="0"/>
              </a:rPr>
              <a:t>R</a:t>
            </a:r>
            <a:r>
              <a:rPr altLang="en-US" dirty="0" err="1">
                <a:cs typeface="Arial" pitchFamily="34" charset="0"/>
              </a:rPr>
              <a:t>uns</a:t>
            </a:r>
            <a:r>
              <a:rPr altLang="en-US" dirty="0">
                <a:cs typeface="Arial" pitchFamily="34" charset="0"/>
              </a:rPr>
              <a:t> on Mozilla Firefox </a:t>
            </a:r>
            <a:r>
              <a:rPr lang="en-IN" altLang="en-US" dirty="0">
                <a:cs typeface="Arial" pitchFamily="34" charset="0"/>
              </a:rPr>
              <a:t>,Chrome as well </a:t>
            </a:r>
            <a:r>
              <a:rPr altLang="en-US" dirty="0">
                <a:cs typeface="Arial" pitchFamily="34" charset="0"/>
              </a:rPr>
              <a:t>(implemented as extension).</a:t>
            </a:r>
            <a:r>
              <a:rPr lang="en-IN" altLang="en-US" dirty="0">
                <a:cs typeface="Arial" pitchFamily="34" charset="0"/>
              </a:rPr>
              <a:t> Used as Prototyping tool.</a:t>
            </a:r>
            <a:endParaRPr altLang="en-US" dirty="0">
              <a:cs typeface="Arial" pitchFamily="34" charset="0"/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 txBox="1">
            <a:spLocks noGrp="1"/>
          </p:cNvSpPr>
          <p:nvPr>
            <p:ph type="title" idx="4294967295"/>
          </p:nvPr>
        </p:nvSpPr>
        <p:spPr>
          <a:xfrm>
            <a:off x="1823520" y="0"/>
            <a:ext cx="8234880" cy="1026828"/>
          </a:xfrm>
        </p:spPr>
        <p:txBody>
          <a:bodyPr>
            <a:normAutofit/>
          </a:bodyPr>
          <a:lstStyle/>
          <a:p>
            <a:r>
              <a:rPr lang="en-IN" altLang="en-US" b="1" dirty="0">
                <a:latin typeface="Century Schoolbook" panose="02040604050505020304" pitchFamily="18" charset="0"/>
              </a:rPr>
              <a:t>Selenium RC</a:t>
            </a:r>
          </a:p>
        </p:txBody>
      </p:sp>
      <p:sp>
        <p:nvSpPr>
          <p:cNvPr id="13315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2057401" y="990600"/>
            <a:ext cx="9122789" cy="2546988"/>
          </a:xfrm>
        </p:spPr>
        <p:txBody>
          <a:bodyPr>
            <a:normAutofit lnSpcReduction="10000"/>
          </a:bodyPr>
          <a:lstStyle/>
          <a:p>
            <a:pPr algn="just">
              <a:buSzPct val="45000"/>
            </a:pPr>
            <a:r>
              <a:rPr lang="en-IN" altLang="en-US" dirty="0">
                <a:cs typeface="Arial" pitchFamily="34" charset="0"/>
              </a:rPr>
              <a:t>Selenium </a:t>
            </a:r>
            <a:r>
              <a:rPr lang="en-IN" altLang="en-US" dirty="0" err="1">
                <a:cs typeface="Arial" pitchFamily="34" charset="0"/>
              </a:rPr>
              <a:t>Rc</a:t>
            </a:r>
            <a:r>
              <a:rPr lang="en-IN" altLang="en-US" dirty="0">
                <a:cs typeface="Arial" pitchFamily="34" charset="0"/>
              </a:rPr>
              <a:t>(Remote Control) is a server written in Java</a:t>
            </a:r>
          </a:p>
          <a:p>
            <a:pPr algn="just">
              <a:buSzPct val="45000"/>
            </a:pPr>
            <a:r>
              <a:rPr altLang="en-US" dirty="0">
                <a:cs typeface="Arial" pitchFamily="34" charset="0"/>
              </a:rPr>
              <a:t>Allows to write automated web application UI tests in any programming language against any HTTP website using any mainstream JavaScript-enabled browser.</a:t>
            </a:r>
          </a:p>
          <a:p>
            <a:pPr algn="just">
              <a:buSzPct val="45000"/>
            </a:pPr>
            <a:r>
              <a:rPr altLang="en-US" dirty="0">
                <a:cs typeface="Arial" pitchFamily="34" charset="0"/>
              </a:rPr>
              <a:t>Can be accessed on different browsers remotely.</a:t>
            </a:r>
          </a:p>
          <a:p>
            <a:pPr algn="just">
              <a:buSzPct val="45000"/>
            </a:pPr>
            <a:r>
              <a:rPr altLang="en-US" dirty="0">
                <a:cs typeface="Arial" pitchFamily="34" charset="0"/>
              </a:rPr>
              <a:t>Discontinued from Selenium Community.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9262" y="3478670"/>
            <a:ext cx="89916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07966909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/>
          </a:bodyPr>
          <a:lstStyle/>
          <a:p>
            <a:r>
              <a:rPr lang="en-IN" altLang="en-US" b="1" dirty="0">
                <a:latin typeface="Century Schoolbook" panose="02040604050505020304" pitchFamily="18" charset="0"/>
              </a:rPr>
              <a:t>Selenium </a:t>
            </a:r>
            <a:r>
              <a:rPr lang="en-IN" altLang="en-US" b="1" dirty="0" err="1">
                <a:latin typeface="Century Schoolbook" panose="02040604050505020304" pitchFamily="18" charset="0"/>
              </a:rPr>
              <a:t>WebDriver</a:t>
            </a:r>
            <a:endParaRPr lang="en-US" altLang="en-US" b="1" dirty="0">
              <a:latin typeface="Century Schoolbook" panose="0204060405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669303"/>
            <a:ext cx="8991599" cy="3369299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The first cross-platform testing framework</a:t>
            </a:r>
          </a:p>
          <a:p>
            <a:pPr algn="just"/>
            <a:r>
              <a:rPr lang="en-IN" dirty="0"/>
              <a:t>Programming interface to create &amp; run test cases</a:t>
            </a:r>
          </a:p>
          <a:p>
            <a:pPr algn="just"/>
            <a:r>
              <a:rPr lang="en-IN" dirty="0"/>
              <a:t>Does not require a core engine like RC &amp; interact natively with the browser application.</a:t>
            </a:r>
          </a:p>
          <a:p>
            <a:pPr algn="just"/>
            <a:r>
              <a:rPr lang="en-IN" dirty="0"/>
              <a:t>Supports Java ,Ruby ,C# ,Python ,PHP ,</a:t>
            </a:r>
            <a:r>
              <a:rPr lang="en-IN" dirty="0" err="1"/>
              <a:t>Perl,Support</a:t>
            </a:r>
            <a:r>
              <a:rPr lang="en-IN" dirty="0"/>
              <a:t> framework like </a:t>
            </a:r>
            <a:r>
              <a:rPr lang="en-IN" dirty="0" err="1"/>
              <a:t>TestNG,Junit,Nunit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9035" y="3657600"/>
            <a:ext cx="8991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628720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Grp="1"/>
          </p:cNvSpPr>
          <p:nvPr>
            <p:ph type="title" idx="4294967295"/>
          </p:nvPr>
        </p:nvSpPr>
        <p:spPr>
          <a:xfrm>
            <a:off x="1752600" y="0"/>
            <a:ext cx="7924800" cy="1371600"/>
          </a:xfrm>
        </p:spPr>
        <p:txBody>
          <a:bodyPr anchor="t">
            <a:noAutofit/>
          </a:bodyPr>
          <a:lstStyle/>
          <a:p>
            <a:r>
              <a:rPr lang="en-IN" altLang="en-US" b="1" dirty="0">
                <a:latin typeface="Century Schoolbook" panose="02040604050505020304" pitchFamily="18" charset="0"/>
              </a:rPr>
              <a:t>Selenium Grid</a:t>
            </a:r>
          </a:p>
        </p:txBody>
      </p:sp>
      <p:sp>
        <p:nvSpPr>
          <p:cNvPr id="14339" name="Text Placeholder 2"/>
          <p:cNvSpPr txBox="1">
            <a:spLocks noGrp="1"/>
          </p:cNvSpPr>
          <p:nvPr>
            <p:ph type="body" idx="4294967295"/>
          </p:nvPr>
        </p:nvSpPr>
        <p:spPr>
          <a:xfrm>
            <a:off x="1828799" y="395926"/>
            <a:ext cx="9737889" cy="3795074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  <a:buSzPct val="45000"/>
            </a:pPr>
            <a:r>
              <a:rPr lang="en-IN" altLang="en-US" dirty="0"/>
              <a:t>Scripts can be executed on different machines at the same time.</a:t>
            </a:r>
          </a:p>
          <a:p>
            <a:pPr algn="just">
              <a:lnSpc>
                <a:spcPct val="80000"/>
              </a:lnSpc>
              <a:buSzPct val="45000"/>
            </a:pPr>
            <a:r>
              <a:rPr lang="en-IN" altLang="en-US" dirty="0"/>
              <a:t>The main objective is to minimize test execution time.</a:t>
            </a:r>
          </a:p>
          <a:p>
            <a:pPr algn="just">
              <a:lnSpc>
                <a:spcPct val="80000"/>
              </a:lnSpc>
              <a:buSzPct val="45000"/>
            </a:pPr>
            <a:r>
              <a:rPr lang="en-IN" altLang="en-US" dirty="0"/>
              <a:t>Grid was designed to distribute commands to different machines simultaneously</a:t>
            </a:r>
          </a:p>
          <a:p>
            <a:pPr algn="just">
              <a:lnSpc>
                <a:spcPct val="80000"/>
              </a:lnSpc>
              <a:buSzPct val="45000"/>
            </a:pPr>
            <a:r>
              <a:rPr lang="en-IN" altLang="en-US" dirty="0"/>
              <a:t>Grid allows the parallel execution of test on different browsers and different operating systems</a:t>
            </a:r>
          </a:p>
          <a:p>
            <a:pPr algn="just">
              <a:lnSpc>
                <a:spcPct val="80000"/>
              </a:lnSpc>
              <a:buSzPct val="45000"/>
            </a:pPr>
            <a:r>
              <a:rPr lang="en-IN" altLang="en-US" dirty="0"/>
              <a:t>Works on switch-hub technology.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3704734"/>
            <a:ext cx="9356888" cy="3153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34168850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WebDriver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5383" y="1"/>
            <a:ext cx="7901233" cy="1074656"/>
          </a:xfrm>
        </p:spPr>
        <p:txBody>
          <a:bodyPr/>
          <a:lstStyle/>
          <a:p>
            <a:r>
              <a:rPr lang="en-IN" b="1" dirty="0"/>
              <a:t>Selenium </a:t>
            </a:r>
            <a:r>
              <a:rPr lang="en-IN" b="1" dirty="0" err="1"/>
              <a:t>WebDriver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8226" y="961534"/>
            <a:ext cx="9219415" cy="4647414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Latest component of Selenium suite.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web-UI automation framework that allows to test various functionalities of AUT.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Compatible with third party browsers such as IE, Chrome, Safari, Opera  etc.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Supports different scripting languages like Java, PHP, C#, python ,Perl , Ruby , Scala and Groovy.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Works only on playback mechanism.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Selenium WebDriver is an INTERFACE.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8702" y="6492874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596" y="251618"/>
            <a:ext cx="9503004" cy="889025"/>
          </a:xfrm>
        </p:spPr>
        <p:txBody>
          <a:bodyPr/>
          <a:lstStyle/>
          <a:p>
            <a:r>
              <a:rPr lang="en-IN" b="1" dirty="0"/>
              <a:t>Selenium 3 Architecture</a:t>
            </a:r>
            <a:endParaRPr lang="en-US" b="1" dirty="0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31070" y="1247481"/>
            <a:ext cx="9818802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58511" y="6241257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b="1" dirty="0"/>
              <a:t>Architecture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9442" y="1143000"/>
            <a:ext cx="10492658" cy="5578311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are four basic components of WebDriver Architecture: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Selenium Language Bindings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JSON Protocol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Browser Drivers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 Browsers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HTTP(Json) request is generated and sent to the browser driver for each Selenium command.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Json WebDriver protocol defines the way that browser actions are executed.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driver receives the HTTP(Json) request through HTTP server.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HTTP Server decides all the steps to perform instructions which are executed on browser.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Execution status is sent back to HTTP Server which is subsequently sent back to automation script.</a:t>
            </a:r>
          </a:p>
          <a:p>
            <a:pPr algn="just"/>
            <a:endParaRPr lang="en-US" sz="1800" dirty="0"/>
          </a:p>
          <a:p>
            <a:pPr lvl="1" algn="just"/>
            <a:endParaRPr lang="en-US" sz="1800" dirty="0"/>
          </a:p>
          <a:p>
            <a:pPr algn="just"/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9213" y="6492875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1957227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674EBD-3E31-682A-8A8C-AFD2B4AB1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8544" y="624992"/>
            <a:ext cx="9653048" cy="541758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D269B-8CE3-94F9-9B4B-AC20B16D1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1250" y="6346129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11904C-69B7-4F64-9FBC-AE9D53F77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9934280" y="5368272"/>
            <a:ext cx="887691" cy="16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74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b="1" dirty="0"/>
              <a:t>Architecture Components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9442" y="1143000"/>
            <a:ext cx="10492658" cy="5578311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There are four basic components of WebDriver Architecture: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Selenium Language Bindings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W3CProtocol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Browser Drivers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 Browsers</a:t>
            </a:r>
          </a:p>
          <a:p>
            <a:pPr marL="457200" lvl="1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 WebDriver W3C Protocol, there is a direct information transfer between the server and client without the necessity for the JSON Wire Protocol. </a:t>
            </a:r>
          </a:p>
          <a:p>
            <a:pPr marL="457200" lvl="1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As both Selenium WebDriver and web browsers use the identical protocol, automated Selenium testing will run tests more consistently between various browsers.</a:t>
            </a: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9213" y="6492875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36526"/>
            <a:ext cx="8763000" cy="93454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Selenium Interfaces and Classes Hierarchy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0104" y="6356352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2003A-8EDD-001C-7B16-A9564E856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63" y="1184195"/>
            <a:ext cx="8861196" cy="485838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82848"/>
            <a:ext cx="10364451" cy="1125442"/>
          </a:xfrm>
        </p:spPr>
        <p:txBody>
          <a:bodyPr/>
          <a:lstStyle/>
          <a:p>
            <a:r>
              <a:rPr lang="en-IN" b="1" dirty="0" err="1"/>
              <a:t>WebDriver</a:t>
            </a:r>
            <a:r>
              <a:rPr lang="en-IN" b="1" dirty="0"/>
              <a:t> Commands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5810" y="1642784"/>
            <a:ext cx="8474698" cy="253581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1.Browser Commands</a:t>
            </a:r>
          </a:p>
          <a:p>
            <a:pPr algn="just">
              <a:lnSpc>
                <a:spcPct val="100000"/>
              </a:lnSpc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2.Navigation Commands</a:t>
            </a:r>
          </a:p>
          <a:p>
            <a:pPr algn="just">
              <a:lnSpc>
                <a:spcPct val="100000"/>
              </a:lnSpc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3.WebElement Commands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19113" y="6292589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60300"/>
            <a:ext cx="10364451" cy="1172576"/>
          </a:xfrm>
        </p:spPr>
        <p:txBody>
          <a:bodyPr/>
          <a:lstStyle/>
          <a:p>
            <a:r>
              <a:rPr lang="en-IN" b="1" dirty="0"/>
              <a:t>Element Locator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275" y="1272619"/>
            <a:ext cx="9703951" cy="4518582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By Id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By name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classname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linkText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partialLinkText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tagName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cssSelector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141" y="6345189"/>
            <a:ext cx="6672887" cy="365125"/>
          </a:xfrm>
        </p:spPr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8686800" cy="1143000"/>
          </a:xfrm>
        </p:spPr>
        <p:txBody>
          <a:bodyPr/>
          <a:lstStyle/>
          <a:p>
            <a:r>
              <a:rPr lang="en-IN" b="1" dirty="0"/>
              <a:t>CSS Selector &amp; </a:t>
            </a:r>
            <a:r>
              <a:rPr lang="en-IN" b="1" dirty="0" err="1"/>
              <a:t>Xpath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8606" y="1074655"/>
            <a:ext cx="9100794" cy="542983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/>
              <a:t> 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Tag &amp; Id/ #id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Tag &amp; class name / .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classname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Tag &amp; attribute []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Tag, class and attribute</a:t>
            </a:r>
          </a:p>
          <a:p>
            <a:pPr marL="514350" indent="-51435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None/>
            </a:pP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Xpath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Text()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Normalize-space()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Contains()</a:t>
            </a:r>
          </a:p>
          <a:p>
            <a:pPr marL="514350" indent="-514350">
              <a:buNone/>
            </a:pPr>
            <a:endParaRPr lang="en-IN" sz="2400" dirty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52141" y="6372520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429982"/>
            <a:ext cx="10364451" cy="1031174"/>
          </a:xfrm>
        </p:spPr>
        <p:txBody>
          <a:bodyPr/>
          <a:lstStyle/>
          <a:p>
            <a:r>
              <a:rPr lang="en-IN" b="1" dirty="0"/>
              <a:t>Browser Action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945" y="1461157"/>
            <a:ext cx="9468281" cy="433004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Opening Chrome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WebDriver driver=new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ChromeDriver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Maximize Window</a:t>
            </a:r>
          </a:p>
          <a:p>
            <a:pPr marL="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driver.manage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().window().maximize();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Close Browser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driver.close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	or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driver.quit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52141" y="6245455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45140"/>
            <a:ext cx="10364451" cy="918052"/>
          </a:xfrm>
        </p:spPr>
        <p:txBody>
          <a:bodyPr/>
          <a:lstStyle/>
          <a:p>
            <a:r>
              <a:rPr lang="en-IN" b="1" dirty="0"/>
              <a:t>Form Field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0263" y="1404595"/>
            <a:ext cx="9637963" cy="4386606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Field 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driver.findelement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(By.&lt;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elementlocator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&gt;("location of the element to be found")).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sendKeys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("&lt;text to be entered&gt;");</a:t>
            </a:r>
          </a:p>
          <a:p>
            <a:pPr marL="514350" indent="-514350">
              <a:buAutoNum type="arabicParenR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Button / Radio Button / Check box / Link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driver.findelement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(By.&lt;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elementlocator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&gt;("location of the element to be found")).click();</a:t>
            </a:r>
          </a:p>
          <a:p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6410" y="6260348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58727"/>
            <a:ext cx="10364451" cy="842638"/>
          </a:xfrm>
        </p:spPr>
        <p:txBody>
          <a:bodyPr/>
          <a:lstStyle/>
          <a:p>
            <a:r>
              <a:rPr lang="en-IN" b="1" dirty="0"/>
              <a:t>Form Filed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384" y="1432874"/>
            <a:ext cx="9769938" cy="3146982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based Dropdown</a:t>
            </a:r>
          </a:p>
          <a:p>
            <a:pPr marL="914400" lvl="1" indent="-514350">
              <a:buAutoNum type="arabicParenR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Selectbyvalue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>
              <a:buAutoNum type="arabicParenR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Selectbyvisibletext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>
              <a:buAutoNum type="arabicParenR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Selectbyindex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514350">
              <a:buAutoNum type="arabicParenR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7873" y="6360788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178542"/>
            <a:ext cx="10364451" cy="1106588"/>
          </a:xfrm>
        </p:spPr>
        <p:txBody>
          <a:bodyPr/>
          <a:lstStyle/>
          <a:p>
            <a:r>
              <a:rPr lang="en-IN" b="1" dirty="0"/>
              <a:t>Wait Condition In </a:t>
            </a:r>
            <a:r>
              <a:rPr lang="en-IN" b="1" dirty="0" err="1"/>
              <a:t>WebDriver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8545" y="1527142"/>
            <a:ext cx="9971642" cy="2507530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Implicitly Wait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Explicitly Wait</a:t>
            </a:r>
          </a:p>
          <a:p>
            <a:pPr lvl="1" algn="just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WebDriverWait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FluentWait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97617" y="6314333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415279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178542"/>
            <a:ext cx="10364451" cy="1106588"/>
          </a:xfrm>
        </p:spPr>
        <p:txBody>
          <a:bodyPr/>
          <a:lstStyle/>
          <a:p>
            <a:r>
              <a:rPr lang="en-IN" b="1" dirty="0"/>
              <a:t>Wait Condition In </a:t>
            </a:r>
            <a:r>
              <a:rPr lang="en-IN" b="1" dirty="0" err="1"/>
              <a:t>WebDriver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8862" y="1197205"/>
            <a:ext cx="9971642" cy="365759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Implicitly Wait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Enables Selenium to wait for certain amount of time before throwing an error if it cannot find the desired element.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is applicable to overall script from the point of declaration.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termed as global declaration.</a:t>
            </a:r>
          </a:p>
          <a:p>
            <a:pPr algn="just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driver.manage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().timeouts().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implicitlyWait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Duration.ofSeconds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(10));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97617" y="6314333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8229600" cy="990600"/>
          </a:xfrm>
        </p:spPr>
        <p:txBody>
          <a:bodyPr/>
          <a:lstStyle/>
          <a:p>
            <a:r>
              <a:rPr lang="en-IN" b="1" dirty="0"/>
              <a:t>Wait condition In </a:t>
            </a:r>
            <a:r>
              <a:rPr lang="en-IN" b="1" dirty="0" err="1"/>
              <a:t>WebDriver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49" y="1168924"/>
            <a:ext cx="9888717" cy="3412503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Explicit Wait This is to wait for a certain condition to occur before proceeding further.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Need to specify an exact time period to wait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Applicable only for 1 condition at a time.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WebDriverWait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(c) extends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FluentWait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(C) implements Wait(I)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10739" y="6411176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0"/>
            <a:ext cx="10364451" cy="1596177"/>
          </a:xfrm>
        </p:spPr>
        <p:txBody>
          <a:bodyPr/>
          <a:lstStyle/>
          <a:p>
            <a:r>
              <a:rPr lang="en-IN" b="1" dirty="0"/>
              <a:t>Capabilities &amp; </a:t>
            </a:r>
            <a:r>
              <a:rPr lang="en-IN" b="1" dirty="0" err="1"/>
              <a:t>ChromeOption</a:t>
            </a:r>
            <a:r>
              <a:rPr lang="en-IN" b="1" dirty="0"/>
              <a:t>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274" y="1461153"/>
            <a:ext cx="9703951" cy="3519341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Capabilities are options that you can use to customize and configure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ChromeDriver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session. 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WebDriver language APIs provides ways to pass capabilities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ChromeDriver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ChromeOptions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This is supported by Java, Python, etc.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Syntax: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driver.getcapabilities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2" y="188281"/>
            <a:ext cx="10364451" cy="842638"/>
          </a:xfrm>
        </p:spPr>
        <p:txBody>
          <a:bodyPr/>
          <a:lstStyle/>
          <a:p>
            <a:r>
              <a:rPr lang="en-IN" b="1" dirty="0"/>
              <a:t>Headless Browser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7811" y="1150069"/>
            <a:ext cx="9600412" cy="2573517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technical terms-It is kind of web browser without graphical user interface.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 other words it is a browser , a piece of software that access a particular web page but doesn’t show them to any human being.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39020" y="6304594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129" y="458263"/>
            <a:ext cx="10364451" cy="889772"/>
          </a:xfrm>
        </p:spPr>
        <p:txBody>
          <a:bodyPr/>
          <a:lstStyle/>
          <a:p>
            <a:r>
              <a:rPr lang="en-IN" b="1" dirty="0"/>
              <a:t>Headless Browser Testing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4726" y="1514063"/>
            <a:ext cx="8855538" cy="3387365"/>
          </a:xfrm>
        </p:spPr>
        <p:txBody>
          <a:bodyPr>
            <a:normAutofit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ChromeOptions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class is used to manipulate various properties of Chrome driver.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ChromeOptions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opt=new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ChromeOptions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opt.setHeadless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(true);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WebDriver driver=new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ChromeDriver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(opt);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129" y="458263"/>
            <a:ext cx="10364451" cy="889772"/>
          </a:xfrm>
        </p:spPr>
        <p:txBody>
          <a:bodyPr/>
          <a:lstStyle/>
          <a:p>
            <a:r>
              <a:rPr lang="en-IN" b="1" dirty="0"/>
              <a:t>Handling Web Elements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2689" y="1489435"/>
            <a:ext cx="8855538" cy="430176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Handling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Alert/pop-up Handling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Frame Handling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SwitchTo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 method of Selenium which will allow us to Control frames and multiple windows as well as Alerts/popups.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27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b="1" dirty="0"/>
              <a:t>Alerts/</a:t>
            </a:r>
            <a:r>
              <a:rPr lang="en-IN" b="1" dirty="0" err="1"/>
              <a:t>Popups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2751" y="1143000"/>
            <a:ext cx="8851769" cy="4918435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some application, while submitting a form or for confirmation a window comes that window known as Alert.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Alert is interface in Selenium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Alert Interface has some methods-</a:t>
            </a:r>
          </a:p>
          <a:p>
            <a:pPr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1- accept()- Will click on the ok button when an alert comes.</a:t>
            </a:r>
          </a:p>
          <a:p>
            <a:pPr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2- dismiss()- Will click on cancel button when an alert comes.</a:t>
            </a:r>
          </a:p>
          <a:p>
            <a:pPr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3-getText()-To get the text of alert</a:t>
            </a:r>
          </a:p>
          <a:p>
            <a:pPr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4-sendKeys()- To send the value to alert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60298"/>
            <a:ext cx="10364451" cy="1028819"/>
          </a:xfrm>
        </p:spPr>
        <p:txBody>
          <a:bodyPr/>
          <a:lstStyle/>
          <a:p>
            <a:r>
              <a:rPr lang="en-IN" b="1" dirty="0"/>
              <a:t>Demo on Alert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4153" y="1289117"/>
            <a:ext cx="9708982" cy="5308585"/>
          </a:xfrm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Demo1: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https://mail.rediff.com/cgi-bin/login.cgi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Demo2: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https://the-internet.herokuapp.com/javascript_alerts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Demo3: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https://www.selenium.dev/documentation/en/webdriver/js_alerts_prompts_and_confirmations/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118897"/>
            <a:ext cx="10364451" cy="1596177"/>
          </a:xfrm>
        </p:spPr>
        <p:txBody>
          <a:bodyPr/>
          <a:lstStyle/>
          <a:p>
            <a:r>
              <a:rPr lang="en-IN" b="1" dirty="0"/>
              <a:t>Handling Multiple Windows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1410" y="1461155"/>
            <a:ext cx="9813303" cy="5514679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Window Handling means how to switch from one window to another window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getWindowHandle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14400" lvl="1" indent="-51435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Returns current window handle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getWindowHandles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914400" lvl="1" indent="-51435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	Returns set of window handles which can be iterate over all open windows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switchTo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514350" indent="-51435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		Return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targetLocator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which can be used to select a frame or window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304800"/>
            <a:ext cx="10364451" cy="753083"/>
          </a:xfrm>
        </p:spPr>
        <p:txBody>
          <a:bodyPr/>
          <a:lstStyle/>
          <a:p>
            <a:r>
              <a:rPr lang="en-IN" b="1" dirty="0"/>
              <a:t>Handling </a:t>
            </a:r>
            <a:r>
              <a:rPr lang="en-IN" b="1" dirty="0" err="1"/>
              <a:t>iFrame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0007" y="1251917"/>
            <a:ext cx="9945279" cy="428161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is a space on the web page that embeds different kinds of media like images, documents, videos inside the main web page. </a:t>
            </a: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HTML document embedded inside an HTML document. </a:t>
            </a:r>
          </a:p>
          <a:p>
            <a:pPr algn="just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defined by an &lt;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&gt;&lt;/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 tag in HTML.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switchTo.frame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(int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frameNumber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 </a:t>
            </a:r>
          </a:p>
          <a:p>
            <a:pPr algn="just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switchTo.frame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(string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frameNameOrId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switchTo.frame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WebElement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frameElement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/>
              <a:t>  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60299"/>
            <a:ext cx="10364451" cy="757796"/>
          </a:xfrm>
        </p:spPr>
        <p:txBody>
          <a:bodyPr/>
          <a:lstStyle/>
          <a:p>
            <a:r>
              <a:rPr lang="en-IN" b="1" dirty="0"/>
              <a:t>Demo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1031" y="1287544"/>
            <a:ext cx="8917756" cy="5029200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Demo1: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https://the-internet.herokuapp.com/iframe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Demo2: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https://www.selenium.dev/selenium/docs/api/java/overview-summary.html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Demo3: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https://the-internet.herokuapp.com/nested_frames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946" y="156604"/>
            <a:ext cx="10364451" cy="1125442"/>
          </a:xfrm>
        </p:spPr>
        <p:txBody>
          <a:bodyPr/>
          <a:lstStyle/>
          <a:p>
            <a:r>
              <a:rPr lang="en-IN" b="1" dirty="0"/>
              <a:t>Actions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059" y="1423447"/>
            <a:ext cx="9194903" cy="3745584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Handling special mouse events are done using the Advanced user interaction API Action class.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Mouse Over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Mouse right click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Drag &amp; drop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Slider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resizable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880345"/>
          </a:xfrm>
        </p:spPr>
        <p:txBody>
          <a:bodyPr/>
          <a:lstStyle/>
          <a:p>
            <a:r>
              <a:rPr lang="en-IN" b="1" dirty="0"/>
              <a:t>Actions Class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9691" y="1498863"/>
            <a:ext cx="9628536" cy="429233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Actions class provided by selenium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webdriver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Handling special mouse events are done using the advanced user interaction API.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Actions class contains action methods that are needed when executing these events.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When you are performing single action then use perform() and when you are performing multiple actions then use build().perform()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8229600" cy="838200"/>
          </a:xfrm>
        </p:spPr>
        <p:txBody>
          <a:bodyPr/>
          <a:lstStyle/>
          <a:p>
            <a:r>
              <a:rPr lang="en-IN" b="1" dirty="0"/>
              <a:t>Methods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996" y="838200"/>
            <a:ext cx="9464511" cy="5121111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contextClick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():It performs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rightclick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at the current mouse location.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doubleClick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():It performs double click at the current mouse location.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clickAndHold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():It clicks without releasing at the current mouse location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dragAndDrop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source,target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):It performs click and hold at source element ,move to that target element then release the mouse.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moveToElement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toElement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):It moves the mouse to the middle of element.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release():Release the depressed left mouse button at the current mouse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loaction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8229600" cy="1143000"/>
          </a:xfrm>
        </p:spPr>
        <p:txBody>
          <a:bodyPr/>
          <a:lstStyle/>
          <a:p>
            <a:r>
              <a:rPr lang="en-IN" b="1" dirty="0"/>
              <a:t>Right click and double click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914400"/>
            <a:ext cx="8915400" cy="5943600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 1: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https://the-internet.herokuapp.com/context_menu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Demo2: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http://demo.guru99.com/test/simple_context_menu.html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Rightclick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http://swisnl.github.io/jQuery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contextMenu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/demo.html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Doubleclick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http://api.jquery.com/dblclick/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b="1" dirty="0" err="1"/>
              <a:t>MouseOver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251" y="1357460"/>
            <a:ext cx="9719035" cy="3185001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Mouse over means when you move cursor on element automatically rest elements displayed.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Demo: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https://www.w3schools.com/jsref/tryit.asp?filename=tryjsref_onmouseover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653" y="319944"/>
            <a:ext cx="10364451" cy="823784"/>
          </a:xfrm>
        </p:spPr>
        <p:txBody>
          <a:bodyPr/>
          <a:lstStyle/>
          <a:p>
            <a:r>
              <a:rPr lang="en-IN" b="1" dirty="0"/>
              <a:t>Drag and Drop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4276" y="1371602"/>
            <a:ext cx="9590828" cy="402995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http://www.dhtmlgoodies.com/scripts/drag drop custom/demo drag drop 3.html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http://jqueryui.com/droppable/#default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1.clickAndHold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2.moveToElement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3.Release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420555"/>
            <a:ext cx="10364451" cy="823784"/>
          </a:xfrm>
        </p:spPr>
        <p:txBody>
          <a:bodyPr/>
          <a:lstStyle/>
          <a:p>
            <a:r>
              <a:rPr lang="en-IN" b="1" dirty="0"/>
              <a:t>Slider, Resizing and Tooltip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0334" y="1244339"/>
            <a:ext cx="8559538" cy="4449451"/>
          </a:xfrm>
        </p:spPr>
        <p:txBody>
          <a:bodyPr>
            <a:no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Slider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https://jqueryui.com/slider/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Resizing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https://jqueryui.com/resizable/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Tooltip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https://jqueryui.com/tooltip/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1125442"/>
          </a:xfrm>
        </p:spPr>
        <p:txBody>
          <a:bodyPr/>
          <a:lstStyle/>
          <a:p>
            <a:r>
              <a:rPr lang="en-IN" b="1" dirty="0"/>
              <a:t>Testing Framework &amp; Tools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346" y="1743960"/>
            <a:ext cx="8340806" cy="2831184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Driven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Keyword Driven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Hybrid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92265" y="6335762"/>
            <a:ext cx="6672887" cy="365125"/>
          </a:xfrm>
        </p:spPr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1324" y="1"/>
            <a:ext cx="8229600" cy="1066800"/>
          </a:xfrm>
        </p:spPr>
        <p:txBody>
          <a:bodyPr/>
          <a:lstStyle/>
          <a:p>
            <a:r>
              <a:rPr lang="en-IN" b="1" dirty="0"/>
              <a:t>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9691" y="1066801"/>
            <a:ext cx="9756742" cy="5221827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framework is a set of assumptions, concepts and practices that needs to be followed.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nothing but a set of guidelines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guidelines consist of coding standards, test-data handling, object repository treatment etc.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up to you whether to follow these guidelines while automating script.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However, it is always beneficial to follow these guidelines in order to produce effective outcomes such as increase code re-usage, higher portability, reduced script maintenance cost etc.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52521" y="6288628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996" y="0"/>
            <a:ext cx="8664804" cy="1295400"/>
          </a:xfrm>
        </p:spPr>
        <p:txBody>
          <a:bodyPr/>
          <a:lstStyle/>
          <a:p>
            <a:r>
              <a:rPr lang="en-IN" b="1" dirty="0"/>
              <a:t>Benefits of 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996" y="1295401"/>
            <a:ext cx="8664804" cy="4830764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Reusability of code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Maximum coverage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Recovery scenario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 cost maintenance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Minimal manual intervention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Easy Reporting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91886" y="6335761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787" y="0"/>
            <a:ext cx="8229600" cy="1417638"/>
          </a:xfrm>
        </p:spPr>
        <p:txBody>
          <a:bodyPr/>
          <a:lstStyle/>
          <a:p>
            <a:r>
              <a:rPr lang="en-IN" b="1" dirty="0" err="1"/>
              <a:t>TestNG</a:t>
            </a:r>
            <a:r>
              <a:rPr lang="en-IN" b="1" dirty="0"/>
              <a:t>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3131" y="1493364"/>
            <a:ext cx="9247694" cy="2786405"/>
          </a:xfrm>
        </p:spPr>
        <p:txBody>
          <a:bodyPr>
            <a:normAutofit/>
          </a:bodyPr>
          <a:lstStyle/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is a testing framework inspired from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Junit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has multiple classes interface and methods which will make testers task easy.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provides so many additional functionality using them you can create very robust framework itself.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63605" y="6345188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145937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35415"/>
            <a:ext cx="10364451" cy="748370"/>
          </a:xfrm>
        </p:spPr>
        <p:txBody>
          <a:bodyPr/>
          <a:lstStyle/>
          <a:p>
            <a:r>
              <a:rPr lang="en-IN" b="1" dirty="0"/>
              <a:t>Advantages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5043" y="1074657"/>
            <a:ext cx="9223184" cy="4716544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Default Reporting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Annotations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Run your test in arbitrarily big thread pools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Easy and flexible test configuration 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 for data driver testing using @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DataProvider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 for Parameters.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Easy way to execute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TestSuite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Supported by a variety of tools &amp; plug-in(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eclipse,Maven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…etc)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36983" y="6257460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6253372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61926"/>
            <a:ext cx="10364451" cy="1002893"/>
          </a:xfrm>
        </p:spPr>
        <p:txBody>
          <a:bodyPr/>
          <a:lstStyle/>
          <a:p>
            <a:r>
              <a:rPr lang="en-IN" b="1" dirty="0"/>
              <a:t>Demo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3579" y="1416600"/>
            <a:ext cx="8446416" cy="4936956"/>
          </a:xfrm>
        </p:spPr>
        <p:txBody>
          <a:bodyPr>
            <a:noAutofit/>
          </a:bodyPr>
          <a:lstStyle/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first script with @Test annotation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Priority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TestNG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Annotations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Creation of Suite (XML File)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 external data for testing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Xml file(@Parameters)</a:t>
            </a:r>
          </a:p>
          <a:p>
            <a:pPr lvl="1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Property file</a:t>
            </a:r>
          </a:p>
          <a:p>
            <a:endParaRPr lang="en-IN" sz="2400" dirty="0"/>
          </a:p>
          <a:p>
            <a:endParaRPr lang="en-IN" sz="2400" dirty="0"/>
          </a:p>
          <a:p>
            <a:pPr lvl="1"/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50483" y="6353556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14372411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066800"/>
          </a:xfrm>
        </p:spPr>
        <p:txBody>
          <a:bodyPr/>
          <a:lstStyle/>
          <a:p>
            <a:r>
              <a:rPr lang="en-IN" b="1" dirty="0" err="1"/>
              <a:t>TestNG</a:t>
            </a:r>
            <a:r>
              <a:rPr lang="en-IN" b="1" dirty="0"/>
              <a:t> XML File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199" y="989814"/>
            <a:ext cx="9217843" cy="5334786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TestNG.xml file is a configuration file that helps in organizing our tests.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allows testers to create and handle multiple test classes, define test suites and tests.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provides parallel execution of test methods.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allows the dependency of one test method on another test method.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helps in prioritizing our test methods.</a:t>
            </a:r>
          </a:p>
          <a:p>
            <a:pPr marL="457200" lvl="1" indent="0"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01312" y="6324600"/>
            <a:ext cx="6672887" cy="365125"/>
          </a:xfrm>
        </p:spPr>
        <p:txBody>
          <a:bodyPr/>
          <a:lstStyle/>
          <a:p>
            <a:r>
              <a:rPr lang="en-US" dirty="0"/>
              <a:t>By Priyanka </a:t>
            </a:r>
            <a:r>
              <a:rPr lang="en-US" dirty="0" err="1"/>
              <a:t>Nigade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2434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b="1" dirty="0"/>
              <a:t>XML File Format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4934" y="4493132"/>
            <a:ext cx="10039546" cy="201403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parallel attribute tells TestNG to run the test suite classes in parallel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22203" y="6324600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1408366"/>
            <a:ext cx="9067014" cy="2819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/>
              <a:t>&lt;?xml version="1.0" encoding="UTF-8"?&gt;</a:t>
            </a:r>
          </a:p>
          <a:p>
            <a:pPr>
              <a:buNone/>
            </a:pPr>
            <a:r>
              <a:rPr lang="en-US" sz="2000" dirty="0"/>
              <a:t>&lt;!DOCTYPE suite SYSTEM "https://testng.org/testng-1.0.dtd"&gt;</a:t>
            </a:r>
          </a:p>
          <a:p>
            <a:pPr>
              <a:buNone/>
            </a:pPr>
            <a:r>
              <a:rPr lang="en-US" sz="2000" dirty="0"/>
              <a:t>&lt;suite name="</a:t>
            </a:r>
            <a:r>
              <a:rPr lang="en-US" sz="2000" dirty="0" err="1"/>
              <a:t>TestNGXML</a:t>
            </a:r>
            <a:r>
              <a:rPr lang="en-US" sz="2000" dirty="0"/>
              <a:t>"  parallel="classes"&gt;</a:t>
            </a:r>
          </a:p>
          <a:p>
            <a:pPr>
              <a:buNone/>
            </a:pPr>
            <a:r>
              <a:rPr lang="en-US" sz="2000" dirty="0"/>
              <a:t>	&lt;test thread-count="5" name="</a:t>
            </a:r>
            <a:r>
              <a:rPr lang="en-US" sz="2000" dirty="0" err="1"/>
              <a:t>TestNGXMLTest</a:t>
            </a:r>
            <a:r>
              <a:rPr lang="en-US" sz="2000" dirty="0"/>
              <a:t> Test" verbose="2"&gt;</a:t>
            </a:r>
          </a:p>
          <a:p>
            <a:pPr>
              <a:buNone/>
            </a:pPr>
            <a:r>
              <a:rPr lang="en-US" sz="2000" dirty="0"/>
              <a:t>		&lt;classes&gt;</a:t>
            </a:r>
          </a:p>
          <a:p>
            <a:pPr>
              <a:buNone/>
            </a:pPr>
            <a:r>
              <a:rPr lang="en-US" sz="2000" dirty="0"/>
              <a:t>			&lt;class name=“</a:t>
            </a:r>
            <a:r>
              <a:rPr lang="en-US" sz="2000" dirty="0" err="1"/>
              <a:t>testNGDemo.TestNGXMLTest</a:t>
            </a:r>
            <a:r>
              <a:rPr lang="en-US" sz="2000" dirty="0"/>
              <a:t>" /&gt;</a:t>
            </a:r>
          </a:p>
          <a:p>
            <a:pPr>
              <a:buNone/>
            </a:pPr>
            <a:r>
              <a:rPr lang="en-US" sz="2000" dirty="0"/>
              <a:t>		&lt;/classes&gt;</a:t>
            </a:r>
          </a:p>
          <a:p>
            <a:pPr>
              <a:buNone/>
            </a:pPr>
            <a:r>
              <a:rPr lang="en-US" sz="2000" dirty="0"/>
              <a:t>	&lt;/test&gt;</a:t>
            </a:r>
          </a:p>
          <a:p>
            <a:pPr>
              <a:buNone/>
            </a:pPr>
            <a:r>
              <a:rPr lang="en-US" sz="2000" dirty="0"/>
              <a:t>&lt;/suite&gt;</a:t>
            </a:r>
          </a:p>
        </p:txBody>
      </p:sp>
    </p:spTree>
    <p:extLst>
      <p:ext uri="{BB962C8B-B14F-4D97-AF65-F5344CB8AC3E}">
        <p14:creationId xmlns:p14="http://schemas.microsoft.com/office/powerpoint/2010/main" val="17111193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219200"/>
          </a:xfrm>
        </p:spPr>
        <p:txBody>
          <a:bodyPr/>
          <a:lstStyle/>
          <a:p>
            <a:r>
              <a:rPr lang="en-IN" b="1" dirty="0"/>
              <a:t>Data Driven Framework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4594" y="1066800"/>
            <a:ext cx="9982985" cy="444788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As the name itself says Data Driven a Framework which is driven by data.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It can be used when one test case has to execute with different set of data.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 Driven using @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DataProvider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Ways: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Array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Excel File</a:t>
            </a:r>
          </a:p>
          <a:p>
            <a:pPr algn="just">
              <a:buFont typeface="Wingdings" pitchFamily="2" charset="2"/>
              <a:buChar char="ü"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54178" y="6324600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</p:spTree>
    <p:extLst>
      <p:ext uri="{BB962C8B-B14F-4D97-AF65-F5344CB8AC3E}">
        <p14:creationId xmlns:p14="http://schemas.microsoft.com/office/powerpoint/2010/main" val="6849045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8544" y="76819"/>
            <a:ext cx="8229600" cy="1219200"/>
          </a:xfrm>
        </p:spPr>
        <p:txBody>
          <a:bodyPr/>
          <a:lstStyle/>
          <a:p>
            <a:r>
              <a:rPr lang="en-IN" b="1" dirty="0" err="1"/>
              <a:t>ScreenShot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8416" y="934527"/>
            <a:ext cx="9728462" cy="4949072"/>
          </a:xfrm>
        </p:spPr>
        <p:txBody>
          <a:bodyPr>
            <a:noAutofit/>
          </a:bodyPr>
          <a:lstStyle/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Screenshot help us to understand the flow of application whether application is behaving correctly or not.</a:t>
            </a:r>
          </a:p>
          <a:p>
            <a:pPr algn="just"/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TakesScreenshot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interface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Full Page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ashot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utility</a:t>
            </a:r>
          </a:p>
          <a:p>
            <a:pPr algn="just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https://github.com/pazone/ashot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42973" y="6382895"/>
            <a:ext cx="6672887" cy="365125"/>
          </a:xfrm>
        </p:spPr>
        <p:txBody>
          <a:bodyPr/>
          <a:lstStyle/>
          <a:p>
            <a:r>
              <a:rPr lang="en-US" dirty="0"/>
              <a:t>By Priyanka Nigade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435E16-AFC7-0FEB-F706-EE7651D0E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3608308"/>
            <a:ext cx="9495343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963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Driven Framework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3703" y="762001"/>
            <a:ext cx="9785023" cy="283903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Data Driven framework in Selenium is the technique of separating the “data set” from the actual “test case” (code). </a:t>
            </a:r>
          </a:p>
          <a:p>
            <a:pPr algn="just">
              <a:lnSpc>
                <a:spcPct val="13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framework completely depends on the input test data. The test data is fed from external sources such as an excel file, .CSV file or any database.</a:t>
            </a:r>
          </a:p>
          <a:p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027" y="3429000"/>
            <a:ext cx="9078798" cy="2983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sz="3600" b="1" dirty="0"/>
              <a:t>Keyword-driven Framework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0643" y="1062086"/>
            <a:ext cx="10624008" cy="2366914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keyword-driven testing framework is a table-driven testing or action-based testing.</a:t>
            </a:r>
          </a:p>
          <a:p>
            <a:pPr algn="just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This is a technique in which all the operations and instructions to be performed are written separately from the actual test cases.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3429000"/>
            <a:ext cx="7772400" cy="2647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IN" sz="3600" b="1" dirty="0"/>
              <a:t>Hybrid Driven Framework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739" y="1010238"/>
            <a:ext cx="10077253" cy="2709650"/>
          </a:xfrm>
        </p:spPr>
        <p:txBody>
          <a:bodyPr>
            <a:normAutofit/>
          </a:bodyPr>
          <a:lstStyle/>
          <a:p>
            <a:pPr algn="just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best thing about such a setup is that it leverages the benefits of all kinds of associated frameworks.</a:t>
            </a:r>
          </a:p>
          <a:p>
            <a:pPr algn="just" fontAlgn="base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Hybrid framework is a technique wherein we can make the best use of both Data-Driven and Keyword-Driven Testing Framework.</a:t>
            </a:r>
          </a:p>
          <a:p>
            <a:pPr algn="just" fontAlgn="base">
              <a:buFont typeface="Wingdings" pitchFamily="2" charset="2"/>
              <a:buChar char="ü"/>
            </a:pPr>
            <a:endParaRPr lang="en-US" sz="2400" dirty="0"/>
          </a:p>
          <a:p>
            <a:pPr algn="just">
              <a:buFont typeface="Wingdings" pitchFamily="2" charset="2"/>
              <a:buChar char="ü"/>
            </a:pP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en-IN" b="1" dirty="0"/>
              <a:t>Page Object Model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9435" y="989815"/>
            <a:ext cx="10124388" cy="211867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Page Object is a Design Pattern which has become popular in test automation for enhancing test maintenance and reducing code duplication.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page object is an object-oriented class that serves as an interface to a page of your AUT.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Every web page in the application should have a corresponding page class.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5323" y="3505200"/>
            <a:ext cx="7391400" cy="3150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F28EB-B9B7-7D48-F3E8-75C17E8B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F0537C-F023-8588-0EC9-B64E1E64D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310" y="384143"/>
            <a:ext cx="10188395" cy="60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714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800" y="194311"/>
            <a:ext cx="10364451" cy="1596177"/>
          </a:xfrm>
        </p:spPr>
        <p:txBody>
          <a:bodyPr/>
          <a:lstStyle/>
          <a:p>
            <a:r>
              <a:rPr lang="en-IN" b="1" dirty="0"/>
              <a:t>Reference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75" y="1790489"/>
            <a:ext cx="10364452" cy="400071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https://www.selenium.dev/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https://www.w3resource.com/java-tutorial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IN" dirty="0">
                <a:solidFill>
                  <a:srgbClr val="FF0000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https//javatpoint.com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56595" y="6056920"/>
            <a:ext cx="6672887" cy="365125"/>
          </a:xfrm>
        </p:spPr>
        <p:txBody>
          <a:bodyPr/>
          <a:lstStyle/>
          <a:p>
            <a:r>
              <a:rPr lang="en-US"/>
              <a:t>By Priyanka Nigade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ppt/theme/themeOverride2.xml><?xml version="1.0" encoding="utf-8"?>
<a:themeOverride xmlns:a="http://schemas.openxmlformats.org/drawingml/2006/main">
  <a:clrScheme name="Parallax">
    <a:dk1>
      <a:sysClr val="windowText" lastClr="000000"/>
    </a:dk1>
    <a:lt1>
      <a:sysClr val="window" lastClr="FFFFFF"/>
    </a:lt1>
    <a:dk2>
      <a:srgbClr val="212121"/>
    </a:dk2>
    <a:lt2>
      <a:srgbClr val="CDD0D1"/>
    </a:lt2>
    <a:accent1>
      <a:srgbClr val="30ACEC"/>
    </a:accent1>
    <a:accent2>
      <a:srgbClr val="80C34F"/>
    </a:accent2>
    <a:accent3>
      <a:srgbClr val="E29D3E"/>
    </a:accent3>
    <a:accent4>
      <a:srgbClr val="D64A3B"/>
    </a:accent4>
    <a:accent5>
      <a:srgbClr val="D64787"/>
    </a:accent5>
    <a:accent6>
      <a:srgbClr val="A666E1"/>
    </a:accent6>
    <a:hlink>
      <a:srgbClr val="3085ED"/>
    </a:hlink>
    <a:folHlink>
      <a:srgbClr val="82B6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</TotalTime>
  <Words>2906</Words>
  <Application>Microsoft Office PowerPoint</Application>
  <PresentationFormat>Widescreen</PresentationFormat>
  <Paragraphs>448</Paragraphs>
  <Slides>70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Arial</vt:lpstr>
      <vt:lpstr>Calibri</vt:lpstr>
      <vt:lpstr>Century Schoolbook</vt:lpstr>
      <vt:lpstr>Corbel</vt:lpstr>
      <vt:lpstr>Times New Roman</vt:lpstr>
      <vt:lpstr>Wingdings</vt:lpstr>
      <vt:lpstr>Parallax</vt:lpstr>
      <vt:lpstr>Java-Selenium  Basic to Advanced Training</vt:lpstr>
      <vt:lpstr>About trainer</vt:lpstr>
      <vt:lpstr>Training Flow</vt:lpstr>
      <vt:lpstr>Automation Basics</vt:lpstr>
      <vt:lpstr>Manual testing</vt:lpstr>
      <vt:lpstr>When is Manual Testing Good Idea?</vt:lpstr>
      <vt:lpstr>Manual Testing Challenges</vt:lpstr>
      <vt:lpstr>Automation testing</vt:lpstr>
      <vt:lpstr>Need For Automation Testing</vt:lpstr>
      <vt:lpstr>When To Automate Application?</vt:lpstr>
      <vt:lpstr>Types Of Automation Tests</vt:lpstr>
      <vt:lpstr>Selection Of Automation Tools</vt:lpstr>
      <vt:lpstr>What is selenium…</vt:lpstr>
      <vt:lpstr>Selenium Phases</vt:lpstr>
      <vt:lpstr>Selenium Benefits</vt:lpstr>
      <vt:lpstr>Limitations </vt:lpstr>
      <vt:lpstr>We can use Selenium </vt:lpstr>
      <vt:lpstr>Selenium components</vt:lpstr>
      <vt:lpstr>Selenium IDE</vt:lpstr>
      <vt:lpstr>Selenium RC</vt:lpstr>
      <vt:lpstr>Selenium WebDriver</vt:lpstr>
      <vt:lpstr>Selenium Grid</vt:lpstr>
      <vt:lpstr>WebDriver</vt:lpstr>
      <vt:lpstr>Selenium WebDriver</vt:lpstr>
      <vt:lpstr>Selenium 3 Architecture</vt:lpstr>
      <vt:lpstr>Architecture Components</vt:lpstr>
      <vt:lpstr>PowerPoint Presentation</vt:lpstr>
      <vt:lpstr>Architecture Components</vt:lpstr>
      <vt:lpstr>Selenium Interfaces and Classes Hierarchy</vt:lpstr>
      <vt:lpstr>WebDriver Commands</vt:lpstr>
      <vt:lpstr>Element Locator</vt:lpstr>
      <vt:lpstr>CSS Selector &amp; Xpath</vt:lpstr>
      <vt:lpstr>Browser Action</vt:lpstr>
      <vt:lpstr>Form Field</vt:lpstr>
      <vt:lpstr>Form Filed</vt:lpstr>
      <vt:lpstr>Wait Condition In WebDriver</vt:lpstr>
      <vt:lpstr>Wait Condition In WebDriver</vt:lpstr>
      <vt:lpstr>Wait condition In WebDriver</vt:lpstr>
      <vt:lpstr>Capabilities &amp; ChromeOption Class</vt:lpstr>
      <vt:lpstr>Headless Browser</vt:lpstr>
      <vt:lpstr>Headless Browser Testing</vt:lpstr>
      <vt:lpstr>Handling Web Elements</vt:lpstr>
      <vt:lpstr>Alerts/Popups</vt:lpstr>
      <vt:lpstr>Demo on Alert</vt:lpstr>
      <vt:lpstr>Handling Multiple Windows</vt:lpstr>
      <vt:lpstr>Handling iFrame</vt:lpstr>
      <vt:lpstr>Demo</vt:lpstr>
      <vt:lpstr>Actions class</vt:lpstr>
      <vt:lpstr>Actions Class</vt:lpstr>
      <vt:lpstr>Methods</vt:lpstr>
      <vt:lpstr>Right click and double click</vt:lpstr>
      <vt:lpstr>MouseOver</vt:lpstr>
      <vt:lpstr>Drag and Drop</vt:lpstr>
      <vt:lpstr>Slider, Resizing and Tooltip</vt:lpstr>
      <vt:lpstr>Testing Framework &amp; Tools</vt:lpstr>
      <vt:lpstr>Framework</vt:lpstr>
      <vt:lpstr>Benefits of Framework</vt:lpstr>
      <vt:lpstr>TestNG </vt:lpstr>
      <vt:lpstr>Advantages</vt:lpstr>
      <vt:lpstr>Demo</vt:lpstr>
      <vt:lpstr>TestNG XML File</vt:lpstr>
      <vt:lpstr>XML File Format</vt:lpstr>
      <vt:lpstr>Data Driven Framework</vt:lpstr>
      <vt:lpstr>ScreenShot</vt:lpstr>
      <vt:lpstr>Data Driven Framework </vt:lpstr>
      <vt:lpstr>Keyword-driven Framework</vt:lpstr>
      <vt:lpstr>Hybrid Driven Framework</vt:lpstr>
      <vt:lpstr>Page Object Model 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Java-Selenium  Basic/advanced Training</dc:title>
  <dc:creator>Ganesh Nigade</dc:creator>
  <cp:lastModifiedBy>ganesh nigade</cp:lastModifiedBy>
  <cp:revision>169</cp:revision>
  <dcterms:created xsi:type="dcterms:W3CDTF">2022-08-19T17:02:21Z</dcterms:created>
  <dcterms:modified xsi:type="dcterms:W3CDTF">2026-06-18T14:21:39Z</dcterms:modified>
</cp:coreProperties>
</file>